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84107" y="1575653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417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021"/>
            <a:ext cx="6096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1216" y="3009902"/>
            <a:ext cx="609600" cy="4413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4017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1051560"/>
            <a:ext cx="8778240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chemeClr val="bg1"/>
                </a:solidFill>
                <a:latin typeface="Aptos"/>
              </a:rPr>
              <a:t>A Reliability-Aware Machine Learning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Framework for Sentiment Classification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of Social Media 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CB"/>
                </a:solidFill>
                <a:latin typeface="Aptos"/>
              </a:rPr>
              <a:t>RASCA — Reliability-Aware Sentiment Classification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074920"/>
            <a:ext cx="4572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300" b="1">
                <a:solidFill>
                  <a:srgbClr val="F8FAFC"/>
                </a:solidFill>
                <a:latin typeface="Aptos"/>
              </a:rPr>
              <a:t>Y</a:t>
            </a:r>
            <a:r>
              <a:rPr sz="1300" b="1">
                <a:solidFill>
                  <a:srgbClr val="F8FAFC"/>
                </a:solidFill>
                <a:latin typeface="Aptos"/>
              </a:rPr>
              <a:t>atin</a:t>
            </a:r>
            <a:r>
              <a:rPr sz="1300" b="1" dirty="0">
                <a:solidFill>
                  <a:srgbClr val="F8FAFC"/>
                </a:solidFill>
                <a:latin typeface="Aptos"/>
              </a:rPr>
              <a:t>  |  GH1035214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440680"/>
            <a:ext cx="5943600" cy="546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chemeClr val="bg1"/>
                </a:solidFill>
                <a:latin typeface="Aptos"/>
              </a:rPr>
              <a:t>MSc Data Science, AI and Digital Business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GISMA University of Applied Sciences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Why accuracy alone is not enough for automated sentiment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3063240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7B4CD"/>
                </a:solidFill>
                <a:latin typeface="Aptos"/>
              </a:rPr>
              <a:t>Social media creates large amounts of opinion pieces that are suitable for automated analysis.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The reliability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306324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The classifier may have perfect performance metrics for the whole classification problem but poor confidence scores for individual predictions.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02752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The research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984248"/>
            <a:ext cx="3063240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7B4CD"/>
                </a:solidFill>
                <a:latin typeface="Aptos"/>
              </a:rPr>
              <a:t>A good system will be able to identify which predictions can be automated and which cannot.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1920240" cy="868680"/>
          </a:xfrm>
          <a:prstGeom prst="roundRect">
            <a:avLst/>
          </a:prstGeom>
          <a:solidFill>
            <a:srgbClr val="121C37"/>
          </a:solidFill>
          <a:ln>
            <a:solidFill>
              <a:srgbClr val="3F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4343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7B4C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4160520"/>
            <a:ext cx="1920240" cy="868680"/>
          </a:xfrm>
          <a:prstGeom prst="roundRect">
            <a:avLst/>
          </a:prstGeom>
          <a:solidFill>
            <a:srgbClr val="121C37"/>
          </a:solidFill>
          <a:ln>
            <a:solidFill>
              <a:srgbClr val="8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43708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4343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7B4C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160520"/>
            <a:ext cx="1920240" cy="868680"/>
          </a:xfrm>
          <a:prstGeom prst="roundRect">
            <a:avLst/>
          </a:prstGeom>
          <a:solidFill>
            <a:srgbClr val="121C37"/>
          </a:solidFill>
          <a:ln>
            <a:solidFill>
              <a:srgbClr val="36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3708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43434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7B4CD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160520"/>
            <a:ext cx="1920240" cy="868680"/>
          </a:xfrm>
          <a:prstGeom prst="roundRect">
            <a:avLst/>
          </a:prstGeom>
          <a:solidFill>
            <a:srgbClr val="121C37"/>
          </a:solidFill>
          <a:ln>
            <a:solidFill>
              <a:srgbClr val="37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98280" y="43708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Aim, Objectives &amp;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CB"/>
                </a:solidFill>
                <a:latin typeface="Aptos"/>
              </a:rPr>
              <a:t>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6400800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700" dirty="0">
                <a:solidFill>
                  <a:srgbClr val="F8FAFC"/>
                </a:solidFill>
                <a:latin typeface="Aptos"/>
              </a:rPr>
              <a:t>Design and experimentally evaluate a reliability-sensitive approach to binary sentiment analysis using traditional machine learning techniques based on TF-IDF, confidence estimation, calibration, selective prediction, and error analysis on highly confident predictions.</a:t>
            </a:r>
            <a:endParaRPr sz="1700" b="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20" y="1325880"/>
            <a:ext cx="4160520" cy="2011680"/>
          </a:xfrm>
          <a:prstGeom prst="roundRect">
            <a:avLst/>
          </a:prstGeom>
          <a:solidFill>
            <a:srgbClr val="121C37"/>
          </a:solidFill>
          <a:ln w="10160">
            <a:solidFill>
              <a:srgbClr val="2D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62088" y="1490472"/>
            <a:ext cx="3794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Research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1892807"/>
            <a:ext cx="3794759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RASCA does not employ an innovative classifier but unifies the various methods into one reliability-driven experiment setting.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CB"/>
                </a:solidFill>
                <a:latin typeface="Aptos"/>
              </a:rPr>
              <a:t>Research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10515600" cy="1787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 b="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Research Questions and Research Focuses:</a:t>
            </a:r>
          </a:p>
          <a:p>
            <a:pPr>
              <a:spcAft>
                <a:spcPts val="700"/>
              </a:spcAft>
              <a:defRPr sz="1350" b="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RQ1: Performance of classification based on TF-IDF</a:t>
            </a:r>
          </a:p>
          <a:p>
            <a:pPr>
              <a:spcAft>
                <a:spcPts val="700"/>
              </a:spcAft>
              <a:defRPr sz="1350" b="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RQ2: Model confidence and its correlation with correct predictions</a:t>
            </a:r>
          </a:p>
          <a:p>
            <a:pPr>
              <a:spcAft>
                <a:spcPts val="700"/>
              </a:spcAft>
              <a:defRPr sz="1350" b="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RQ3: Effect of confidence calibration on performance</a:t>
            </a:r>
          </a:p>
          <a:p>
            <a:pPr>
              <a:spcAft>
                <a:spcPts val="700"/>
              </a:spcAft>
              <a:defRPr sz="1350" b="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RQ4: Selective prediction and its usefulness</a:t>
            </a:r>
          </a:p>
          <a:p>
            <a:pPr>
              <a:spcAft>
                <a:spcPts val="700"/>
              </a:spcAft>
              <a:defRPr sz="1350" b="0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RQ5: Language features of highly confident errors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Literature Review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From predictive performance toward reliability-aware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53619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Traditional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3063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Logistic Regression, Naive Bayes, and Support Vector Machines remain equally relevant for sparse TF-IDF encoding of text.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Modern sentiment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3063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Modern studies tend to utilize deep learning and transformers approach while the conventional models remain relevant as baselines.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02752" y="153619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Reliability literature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938528"/>
            <a:ext cx="30632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Calibration and selective prediction test whether confidence levels support safe decisions made by machines.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CB"/>
                </a:solidFill>
                <a:latin typeface="Aptos"/>
              </a:rPr>
              <a:t>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96512"/>
            <a:ext cx="1088136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F8FAFC"/>
                </a:solidFill>
                <a:latin typeface="Aptos"/>
              </a:rPr>
              <a:t>This dissertation focuses on the limited incorporation of classification accuracy, confidence assessment, selective predictions, and high confidence errors into a light-weight TF-IDF-based sentiment analysis system.</a:t>
            </a:r>
            <a:endParaRPr sz="18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55321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7B4CD"/>
                </a:solidFill>
                <a:latin typeface="Aptos"/>
              </a:rPr>
              <a:t>Key sources include Shin et al. (2025), </a:t>
            </a:r>
            <a:r>
              <a:rPr sz="1050" b="0" dirty="0" err="1">
                <a:solidFill>
                  <a:srgbClr val="A7B4CD"/>
                </a:solidFill>
                <a:latin typeface="Aptos"/>
              </a:rPr>
              <a:t>Albadarneh</a:t>
            </a:r>
            <a:r>
              <a:rPr sz="1050" b="0" dirty="0">
                <a:solidFill>
                  <a:srgbClr val="A7B4CD"/>
                </a:solidFill>
                <a:latin typeface="Aptos"/>
              </a:rPr>
              <a:t> et al. (2025), Dong et al. (2025), </a:t>
            </a:r>
            <a:r>
              <a:rPr sz="1050" b="0" dirty="0" err="1">
                <a:solidFill>
                  <a:srgbClr val="A7B4CD"/>
                </a:solidFill>
                <a:latin typeface="Aptos"/>
              </a:rPr>
              <a:t>Dabah</a:t>
            </a:r>
            <a:r>
              <a:rPr sz="1050" b="0" dirty="0">
                <a:solidFill>
                  <a:srgbClr val="A7B4CD"/>
                </a:solidFill>
                <a:latin typeface="Aptos"/>
              </a:rPr>
              <a:t> &amp; </a:t>
            </a:r>
            <a:r>
              <a:rPr sz="1050" b="0" dirty="0" err="1">
                <a:solidFill>
                  <a:srgbClr val="A7B4CD"/>
                </a:solidFill>
                <a:latin typeface="Aptos"/>
              </a:rPr>
              <a:t>Tirer</a:t>
            </a:r>
            <a:r>
              <a:rPr sz="1050" b="0" dirty="0">
                <a:solidFill>
                  <a:srgbClr val="A7B4CD"/>
                </a:solidFill>
                <a:latin typeface="Aptos"/>
              </a:rPr>
              <a:t> (2025) and </a:t>
            </a:r>
            <a:r>
              <a:rPr sz="1050" b="0" dirty="0" err="1">
                <a:solidFill>
                  <a:srgbClr val="A7B4CD"/>
                </a:solidFill>
                <a:latin typeface="Aptos"/>
              </a:rPr>
              <a:t>Anggraini</a:t>
            </a:r>
            <a:r>
              <a:rPr sz="1050" b="0" dirty="0">
                <a:solidFill>
                  <a:srgbClr val="A7B4CD"/>
                </a:solidFill>
                <a:latin typeface="Aptos"/>
              </a:rPr>
              <a:t> et al. (2026).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Dataset — Sentiment140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Large-scale binary sentiment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" y="15179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Original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F7DFF"/>
                </a:solidFill>
                <a:latin typeface="Aptos"/>
              </a:rPr>
              <a:t>1,600,000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15179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Final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81051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6D3CB"/>
                </a:solidFill>
                <a:latin typeface="Aptos"/>
              </a:rPr>
              <a:t>1,596,406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5179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181051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895CFF"/>
                </a:solidFill>
                <a:latin typeface="Aptos"/>
              </a:rPr>
              <a:t>1,277,124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51790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181051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7D28C"/>
                </a:solidFill>
                <a:latin typeface="Aptos"/>
              </a:rPr>
              <a:t>319,282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04495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447288"/>
            <a:ext cx="4709159" cy="14311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chemeClr val="bg1"/>
                </a:solidFill>
                <a:latin typeface="Aptos"/>
              </a:rPr>
              <a:t>Binary sentiment classification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Negative = 0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Positive = 1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Neutral class excluded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80/20 stratified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04495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Text representation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3447288"/>
            <a:ext cx="5074920" cy="13388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TF-IDF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1–2 grams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min_df</a:t>
            </a:r>
            <a:r>
              <a:rPr sz="1400" dirty="0">
                <a:solidFill>
                  <a:schemeClr val="bg1"/>
                </a:solidFill>
              </a:rPr>
              <a:t> = 5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max_df</a:t>
            </a:r>
            <a:r>
              <a:rPr sz="1400" dirty="0">
                <a:solidFill>
                  <a:schemeClr val="bg1"/>
                </a:solidFill>
              </a:rPr>
              <a:t> = 0.95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</a:t>
            </a:r>
            <a:r>
              <a:rPr sz="1400" dirty="0" err="1">
                <a:solidFill>
                  <a:schemeClr val="bg1"/>
                </a:solidFill>
              </a:rPr>
              <a:t>sublinear</a:t>
            </a:r>
            <a:r>
              <a:rPr sz="1400" dirty="0">
                <a:solidFill>
                  <a:schemeClr val="bg1"/>
                </a:solidFill>
              </a:rPr>
              <a:t> TF = True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• maximum 300,000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6D3CB"/>
                </a:solidFill>
                <a:latin typeface="Aptos"/>
              </a:rPr>
              <a:t>Random state: 42  •  Five-fold StratifiedKFold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7D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210312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50" dirty="0">
                <a:solidFill>
                  <a:srgbClr val="A7B4CD"/>
                </a:solidFill>
                <a:latin typeface="Aptos"/>
              </a:rPr>
              <a:t>Process and validate social media data.</a:t>
            </a:r>
            <a:endParaRPr sz="105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6616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95C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92024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7B4CD"/>
                </a:solidFill>
                <a:latin typeface="Aptos"/>
              </a:rPr>
              <a:t>TF-IDF 1–2 gram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C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5087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2024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4CD"/>
                </a:solidFill>
                <a:latin typeface="Aptos"/>
              </a:rPr>
              <a:t>LR • MNB • Linear 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5270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28C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5087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1092" y="1920240"/>
            <a:ext cx="240606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7B4CD"/>
                </a:solidFill>
                <a:latin typeface="Aptos"/>
              </a:rPr>
              <a:t>Accuracy • F1 • ROC-AUC • PR-AUC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A94C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566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Calibrate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977639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4CD"/>
                </a:solidFill>
                <a:latin typeface="Aptos"/>
              </a:rPr>
              <a:t>Sigmoid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7D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566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912" y="3977639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4CD"/>
                </a:solidFill>
                <a:latin typeface="Aptos"/>
              </a:rPr>
              <a:t>Accept / Review by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5844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95CFF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5661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Analyse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3977639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4CD"/>
                </a:solidFill>
                <a:latin typeface="Aptos"/>
              </a:rPr>
              <a:t>High-confidence error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RASCA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Reliability is treated as a decision layer after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691640" cy="960120"/>
          </a:xfrm>
          <a:prstGeom prst="roundRect">
            <a:avLst/>
          </a:prstGeom>
          <a:solidFill>
            <a:srgbClr val="121C37"/>
          </a:solidFill>
          <a:ln>
            <a:solidFill>
              <a:srgbClr val="3F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Social-media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3432" y="21031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7B4CD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691640" cy="960120"/>
          </a:xfrm>
          <a:prstGeom prst="roundRect">
            <a:avLst/>
          </a:prstGeom>
          <a:solidFill>
            <a:srgbClr val="121C37"/>
          </a:solidFill>
          <a:ln>
            <a:solidFill>
              <a:srgbClr val="89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2084831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TF-IDF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21031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7B4CD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828800"/>
            <a:ext cx="1691640" cy="960120"/>
          </a:xfrm>
          <a:prstGeom prst="roundRect">
            <a:avLst/>
          </a:prstGeom>
          <a:solidFill>
            <a:srgbClr val="121C37"/>
          </a:solidFill>
          <a:ln>
            <a:solidFill>
              <a:srgbClr val="36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2084831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ML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1031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7B4C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828800"/>
            <a:ext cx="1691640" cy="960120"/>
          </a:xfrm>
          <a:prstGeom prst="roundRect">
            <a:avLst/>
          </a:prstGeom>
          <a:solidFill>
            <a:srgbClr val="121C37"/>
          </a:solidFill>
          <a:ln>
            <a:solidFill>
              <a:srgbClr val="FFA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084831"/>
            <a:ext cx="16916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Confidence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10312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7B4C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1691640" cy="960120"/>
          </a:xfrm>
          <a:prstGeom prst="roundRect">
            <a:avLst/>
          </a:prstGeom>
          <a:solidFill>
            <a:srgbClr val="121C37"/>
          </a:solidFill>
          <a:ln>
            <a:solidFill>
              <a:srgbClr val="37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2084831"/>
            <a:ext cx="1691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03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36D3CB"/>
                </a:solidFill>
                <a:latin typeface="Aptos"/>
              </a:rPr>
              <a:t>Decision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616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D28C"/>
                </a:solidFill>
                <a:latin typeface="Aptos"/>
              </a:rPr>
              <a:t>ACCEPT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36592"/>
            <a:ext cx="237744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>
                <a:solidFill>
                  <a:schemeClr val="bg1"/>
                </a:solidFill>
                <a:latin typeface="Aptos"/>
              </a:rPr>
              <a:t>High-confidence predictions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processed automatically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3616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A94C"/>
                </a:solidFill>
                <a:latin typeface="Aptos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736592"/>
            <a:ext cx="237744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>
                <a:solidFill>
                  <a:schemeClr val="bg1"/>
                </a:solidFill>
                <a:latin typeface="Aptos"/>
              </a:rPr>
              <a:t>Lower-confidence predictions</a:t>
            </a:r>
            <a:br>
              <a:rPr sz="1600" dirty="0">
                <a:solidFill>
                  <a:schemeClr val="bg1"/>
                </a:solidFill>
              </a:rPr>
            </a:br>
            <a:r>
              <a:rPr sz="1600" dirty="0">
                <a:solidFill>
                  <a:schemeClr val="bg1"/>
                </a:solidFill>
              </a:rPr>
              <a:t>routed for human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3616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5D68"/>
                </a:solidFill>
                <a:latin typeface="Aptos"/>
              </a:rPr>
              <a:t>ERROR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736592"/>
            <a:ext cx="237744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dirty="0">
                <a:solidFill>
                  <a:schemeClr val="bg1"/>
                </a:solidFill>
                <a:latin typeface="Aptos"/>
              </a:rPr>
              <a:t>Inspect high-confidence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mistakes and linguistic causes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Experimental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4904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F8FAFC"/>
                </a:solidFill>
                <a:latin typeface="Aptos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781709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Sentiment140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4904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807347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1,596,406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38658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60730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80% train / 20%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38658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669276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5-fold </a:t>
            </a:r>
            <a:r>
              <a:rPr sz="1150" b="0" dirty="0" err="1">
                <a:solidFill>
                  <a:srgbClr val="A7B4CD"/>
                </a:solidFill>
                <a:latin typeface="Aptos"/>
              </a:rPr>
              <a:t>StratifiedKFold</a:t>
            </a:r>
            <a:endParaRPr sz="115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7" y="328269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573934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1–2 grams; max 300k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28269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565388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LR, MNB, Linear SVM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17880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Calibration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4478592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Sigmoid; 5-fold CV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17880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Thresholds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4487138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0.60 / 0.70 / 0.80 / 0.90 / 0.95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507492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High-confidence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" y="5391796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Threshold 0.90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507492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Not 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5374704"/>
            <a:ext cx="4892040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7B4CD"/>
                </a:solidFill>
                <a:latin typeface="Aptos"/>
              </a:rPr>
              <a:t>Random Forest; </a:t>
            </a:r>
            <a:r>
              <a:rPr sz="1150" b="0" dirty="0" err="1">
                <a:solidFill>
                  <a:srgbClr val="A7B4CD"/>
                </a:solidFill>
                <a:latin typeface="Aptos"/>
              </a:rPr>
              <a:t>RandomizedSearchCV</a:t>
            </a:r>
            <a:endParaRPr sz="115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Classification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Logistic Regression achieved the strongest observed test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6D3CB"/>
                </a:solidFill>
                <a:latin typeface="Aptos"/>
              </a:rPr>
              <a:t>F1-score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4CD"/>
                </a:solidFill>
                <a:latin typeface="Aptos"/>
              </a:rPr>
              <a:t>Logistic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47088"/>
            <a:ext cx="5943600" cy="384048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1847088"/>
            <a:ext cx="4902281" cy="384048"/>
          </a:xfrm>
          <a:prstGeom prst="roundRect">
            <a:avLst/>
          </a:prstGeom>
          <a:solidFill>
            <a:srgbClr val="3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0" y="1810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0.8248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4CD"/>
                </a:solidFill>
                <a:latin typeface="Aptos"/>
              </a:rPr>
              <a:t>Linear SVM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807208"/>
            <a:ext cx="5943600" cy="384048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0" y="2807208"/>
            <a:ext cx="4839279" cy="384048"/>
          </a:xfrm>
          <a:prstGeom prst="roundRect">
            <a:avLst/>
          </a:prstGeom>
          <a:solidFill>
            <a:srgbClr val="8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27706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0.8142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7B4CD"/>
                </a:solidFill>
                <a:latin typeface="Aptos"/>
              </a:rPr>
              <a:t>Multinomial NB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767327"/>
            <a:ext cx="5943600" cy="384048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43200" y="3767327"/>
            <a:ext cx="4764984" cy="384048"/>
          </a:xfrm>
          <a:prstGeom prst="roundRect">
            <a:avLst/>
          </a:prstGeom>
          <a:solidFill>
            <a:srgbClr val="89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37307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0.8017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83480"/>
            <a:ext cx="2560320" cy="1143000"/>
          </a:xfrm>
          <a:prstGeom prst="roundRect">
            <a:avLst/>
          </a:prstGeom>
          <a:solidFill>
            <a:srgbClr val="121C37"/>
          </a:solidFill>
          <a:ln>
            <a:solidFill>
              <a:srgbClr val="2D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5129784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Best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422392"/>
            <a:ext cx="2240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F7DFF"/>
                </a:solidFill>
                <a:latin typeface="Aptos"/>
              </a:rPr>
              <a:t>0.8234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983480"/>
            <a:ext cx="2560320" cy="1143000"/>
          </a:xfrm>
          <a:prstGeom prst="roundRect">
            <a:avLst/>
          </a:prstGeom>
          <a:solidFill>
            <a:srgbClr val="121C37"/>
          </a:solidFill>
          <a:ln>
            <a:solidFill>
              <a:srgbClr val="2D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9312" y="5129784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Best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5422392"/>
            <a:ext cx="2240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6D3CB"/>
                </a:solidFill>
                <a:latin typeface="Aptos"/>
              </a:rPr>
              <a:t>0.8248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983480"/>
            <a:ext cx="2560320" cy="1143000"/>
          </a:xfrm>
          <a:prstGeom prst="roundRect">
            <a:avLst/>
          </a:prstGeom>
          <a:solidFill>
            <a:srgbClr val="121C37"/>
          </a:solidFill>
          <a:ln>
            <a:solidFill>
              <a:srgbClr val="2D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5129784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Best 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422392"/>
            <a:ext cx="2240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895CFF"/>
                </a:solidFill>
                <a:latin typeface="Aptos"/>
              </a:rPr>
              <a:t>0.9024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983480"/>
            <a:ext cx="2286000" cy="1143000"/>
          </a:xfrm>
          <a:prstGeom prst="roundRect">
            <a:avLst/>
          </a:prstGeom>
          <a:solidFill>
            <a:srgbClr val="121C37"/>
          </a:solidFill>
          <a:ln>
            <a:solidFill>
              <a:srgbClr val="2D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25712" y="512978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Best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542239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7D28C"/>
                </a:solidFill>
                <a:latin typeface="Aptos"/>
              </a:rPr>
              <a:t>LR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Confidence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Calibration reduced ECE, while Brier score did not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17904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Uncalibrated 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1051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A94C"/>
                </a:solidFill>
                <a:latin typeface="Aptos"/>
              </a:rPr>
              <a:t>0.0172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1517904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Calibrated 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81051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7D28C"/>
                </a:solidFill>
                <a:latin typeface="Aptos"/>
              </a:rPr>
              <a:t>0.0106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1517904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7B4CD"/>
                </a:solidFill>
                <a:latin typeface="Aptos"/>
              </a:rPr>
              <a:t>Mean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181051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F7DFF"/>
                </a:solidFill>
                <a:latin typeface="Aptos"/>
              </a:rPr>
              <a:t>0.8148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90672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What 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93008"/>
            <a:ext cx="4754879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Expected Calibration Error reduced from about 0.0172 to 0.0106, which means that there is a better match between confidence and accuracy.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81928" y="3090672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Important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493008"/>
            <a:ext cx="475487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The Brier score rose from 0.125908 to 0.126250. Thus, it cannot be said that reliability is measured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Confidence vs Prediction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Higher confidence was associated with higher observed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6D3CB"/>
                </a:solidFill>
                <a:latin typeface="Aptos"/>
              </a:rPr>
              <a:t>Observed accuracy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828800" y="1828800"/>
            <a:ext cx="8046720" cy="3200400"/>
          </a:xfrm>
          <a:prstGeom prst="line">
            <a:avLst/>
          </a:prstGeom>
          <a:ln w="38100">
            <a:solidFill>
              <a:srgbClr val="36D3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709928" y="4910328"/>
            <a:ext cx="237744" cy="237744"/>
          </a:xfrm>
          <a:prstGeom prst="ellipse">
            <a:avLst/>
          </a:prstGeom>
          <a:solidFill>
            <a:srgbClr val="36D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193792"/>
            <a:ext cx="146304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55.48%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0.50–0.60</a:t>
            </a:r>
          </a:p>
        </p:txBody>
      </p:sp>
      <p:sp>
        <p:nvSpPr>
          <p:cNvPr id="8" name="Oval 7"/>
          <p:cNvSpPr/>
          <p:nvPr/>
        </p:nvSpPr>
        <p:spPr>
          <a:xfrm>
            <a:off x="9756648" y="1709928"/>
            <a:ext cx="237744" cy="237744"/>
          </a:xfrm>
          <a:prstGeom prst="ellipse">
            <a:avLst/>
          </a:prstGeom>
          <a:solidFill>
            <a:srgbClr val="36D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1993392"/>
            <a:ext cx="146304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97.07%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0.95–1.00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6235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7B4CD"/>
                </a:solidFill>
                <a:latin typeface="Aptos"/>
              </a:rPr>
              <a:t>Confidence bin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3108960" cy="1280160"/>
          </a:xfrm>
          <a:prstGeom prst="roundRect">
            <a:avLst/>
          </a:prstGeom>
          <a:solidFill>
            <a:srgbClr val="121C37"/>
          </a:solidFill>
          <a:ln w="10160">
            <a:solidFill>
              <a:srgbClr val="2D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19933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Low-confidence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95728"/>
            <a:ext cx="274320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4CD"/>
                </a:solidFill>
                <a:latin typeface="Aptos"/>
              </a:rPr>
              <a:t>0.50–0.60 confidence → 55.48%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703320"/>
            <a:ext cx="3108960" cy="1280160"/>
          </a:xfrm>
          <a:prstGeom prst="roundRect">
            <a:avLst/>
          </a:prstGeom>
          <a:solidFill>
            <a:srgbClr val="121C37"/>
          </a:solidFill>
          <a:ln w="10160">
            <a:solidFill>
              <a:srgbClr val="2D3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386791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High-confidence band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270248"/>
            <a:ext cx="274320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4CD"/>
                </a:solidFill>
                <a:latin typeface="Aptos"/>
              </a:rPr>
              <a:t>0.95–1.00 confidence → 97.07%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Selective Prediction — Accept /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Increasing the confidence threshold reduces coverage but lowers accepted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CB"/>
                </a:solidFill>
                <a:latin typeface="Aptos"/>
              </a:rPr>
              <a:t>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CB"/>
                </a:solidFill>
                <a:latin typeface="Aptos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258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CB"/>
                </a:solidFill>
                <a:latin typeface="Aptos"/>
              </a:rPr>
              <a:t>Accepted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258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6D3CB"/>
                </a:solidFill>
                <a:latin typeface="Aptos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88.03%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28C"/>
                </a:solidFill>
                <a:latin typeface="Aptos"/>
              </a:rPr>
              <a:t>85.88%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A94C"/>
                </a:solidFill>
                <a:latin typeface="Aptos"/>
              </a:rPr>
              <a:t>14.12%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837943"/>
            <a:ext cx="2468880" cy="320040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0" y="1837943"/>
            <a:ext cx="2173355" cy="320040"/>
          </a:xfrm>
          <a:prstGeom prst="roundRect">
            <a:avLst/>
          </a:prstGeom>
          <a:solidFill>
            <a:srgbClr val="3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4871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871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74.82%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871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28C"/>
                </a:solidFill>
                <a:latin typeface="Aptos"/>
              </a:rPr>
              <a:t>89.24%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48716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A94C"/>
                </a:solidFill>
                <a:latin typeface="Aptos"/>
              </a:rPr>
              <a:t>10.76%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496311"/>
            <a:ext cx="2468880" cy="320040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86800" y="2496311"/>
            <a:ext cx="1847216" cy="320040"/>
          </a:xfrm>
          <a:prstGeom prst="roundRect">
            <a:avLst/>
          </a:prstGeom>
          <a:solidFill>
            <a:srgbClr val="3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1455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14553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59.18%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145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28C"/>
                </a:solidFill>
                <a:latin typeface="Aptos"/>
              </a:rPr>
              <a:t>92.47%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4553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A94C"/>
                </a:solidFill>
                <a:latin typeface="Aptos"/>
              </a:rPr>
              <a:t>7.53%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3154679"/>
            <a:ext cx="2468880" cy="320040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86800" y="3154679"/>
            <a:ext cx="1461083" cy="320040"/>
          </a:xfrm>
          <a:prstGeom prst="roundRect">
            <a:avLst/>
          </a:prstGeom>
          <a:solidFill>
            <a:srgbClr val="3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80390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80390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38.41%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803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28C"/>
                </a:solidFill>
                <a:latin typeface="Aptos"/>
              </a:rPr>
              <a:t>95.42%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0390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A94C"/>
                </a:solidFill>
                <a:latin typeface="Aptos"/>
              </a:rPr>
              <a:t>4.58%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813048"/>
            <a:ext cx="2468880" cy="320040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3813048"/>
            <a:ext cx="948296" cy="320040"/>
          </a:xfrm>
          <a:prstGeom prst="roundRect">
            <a:avLst/>
          </a:prstGeom>
          <a:solidFill>
            <a:srgbClr val="3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46227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0.95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46227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  <a:latin typeface="Aptos"/>
              </a:rPr>
              <a:t>23.62%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462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28C"/>
                </a:solidFill>
                <a:latin typeface="Aptos"/>
              </a:rPr>
              <a:t>97.07%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46227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A94C"/>
                </a:solidFill>
                <a:latin typeface="Aptos"/>
              </a:rPr>
              <a:t>2.93%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4471416"/>
            <a:ext cx="2468880" cy="320040"/>
          </a:xfrm>
          <a:prstGeom prst="roundRect">
            <a:avLst/>
          </a:prstGeom>
          <a:solidFill>
            <a:srgbClr val="2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686800" y="4471416"/>
            <a:ext cx="583149" cy="320040"/>
          </a:xfrm>
          <a:prstGeom prst="roundRect">
            <a:avLst/>
          </a:prstGeom>
          <a:solidFill>
            <a:srgbClr val="3F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What the experiments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34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07008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D"/>
                </a:solidFill>
                <a:latin typeface="Aptos"/>
              </a:rPr>
              <a:t>Logistic Regression produced the strongest overall test results among the three evaluated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7627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D"/>
                </a:solidFill>
                <a:latin typeface="Aptos"/>
              </a:rPr>
              <a:t>Observed accuracy increased substantially across confidence bands.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1810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90672"/>
            <a:ext cx="850392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A7B4CD"/>
                </a:solidFill>
                <a:latin typeface="Aptos"/>
              </a:rPr>
              <a:t>ECE improved after sigmoid calibration.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59935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Selective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32503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D"/>
                </a:solidFill>
                <a:latin typeface="Aptos"/>
              </a:rPr>
              <a:t>Higher thresholds traded coverage for higher accepted accuracy and lower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0017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Residual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74336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7B4CD"/>
                </a:solidFill>
                <a:latin typeface="Aptos"/>
              </a:rPr>
              <a:t>High-confidence errors remained, especially around difficult linguistic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Practical Implications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49047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Practical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92807"/>
            <a:ext cx="4937759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  <a:latin typeface="Aptos"/>
              </a:rPr>
              <a:t>Reliability can be embedded in decision layers of lightweight sentiment analysis systems.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  <a:latin typeface="Aptos"/>
              </a:rPr>
              <a:t>Confidence thresholds can define an explicit Accept/Review process.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  <a:latin typeface="Aptos"/>
              </a:rPr>
              <a:t>Error analysis is required even in instances of high confidence.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19088" y="149047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92807"/>
            <a:ext cx="4937759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ptos"/>
              </a:rPr>
              <a:t>- </a:t>
            </a:r>
            <a:r>
              <a:rPr lang="en-US" sz="1050" dirty="0" err="1">
                <a:solidFill>
                  <a:schemeClr val="bg1"/>
                </a:solidFill>
                <a:latin typeface="Aptos"/>
              </a:rPr>
              <a:t>Histoical</a:t>
            </a:r>
            <a:r>
              <a:rPr lang="en-US" sz="1050" dirty="0">
                <a:solidFill>
                  <a:schemeClr val="bg1"/>
                </a:solidFill>
                <a:latin typeface="Aptos"/>
              </a:rPr>
              <a:t>, labeled Sentiment140 data set</a:t>
            </a:r>
          </a:p>
          <a:p>
            <a:r>
              <a:rPr lang="en-US" sz="1050" dirty="0">
                <a:solidFill>
                  <a:schemeClr val="bg1"/>
                </a:solidFill>
                <a:latin typeface="Aptos"/>
              </a:rPr>
              <a:t>- Binary classification of sentiment</a:t>
            </a:r>
          </a:p>
          <a:p>
            <a:r>
              <a:rPr lang="en-US" sz="1050" dirty="0">
                <a:solidFill>
                  <a:schemeClr val="bg1"/>
                </a:solidFill>
                <a:latin typeface="Aptos"/>
              </a:rPr>
              <a:t>- The TF-IDF representation doesn’t do justice to the semantics of the context</a:t>
            </a:r>
          </a:p>
          <a:p>
            <a:r>
              <a:rPr lang="en-US" sz="1050" dirty="0">
                <a:solidFill>
                  <a:schemeClr val="bg1"/>
                </a:solidFill>
                <a:latin typeface="Aptos"/>
              </a:rPr>
              <a:t>- No holistic human evaluation</a:t>
            </a:r>
          </a:p>
          <a:p>
            <a:r>
              <a:rPr lang="en-US" sz="1050" dirty="0">
                <a:solidFill>
                  <a:schemeClr val="bg1"/>
                </a:solidFill>
                <a:latin typeface="Aptos"/>
              </a:rPr>
              <a:t>- The results are dataset/pipeline specific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7" y="368503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What should not be claimed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087368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A7B4CD"/>
                </a:solidFill>
                <a:latin typeface="Aptos"/>
              </a:rPr>
              <a:t>However, </a:t>
            </a:r>
            <a:r>
              <a:rPr lang="en-US" sz="1400" dirty="0" err="1">
                <a:solidFill>
                  <a:srgbClr val="A7B4CD"/>
                </a:solidFill>
                <a:latin typeface="Aptos"/>
              </a:rPr>
              <a:t>Rasca</a:t>
            </a:r>
            <a:r>
              <a:rPr lang="en-US" sz="1400" dirty="0">
                <a:solidFill>
                  <a:srgbClr val="A7B4CD"/>
                </a:solidFill>
                <a:latin typeface="Aptos"/>
              </a:rPr>
              <a:t> has neither proven that high-confidence predictions are always true, nor that the approach can be generalized to other contexts without further validation.</a:t>
            </a:r>
            <a:endParaRPr sz="14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D3CB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9848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>
                <a:solidFill>
                  <a:srgbClr val="F8FAFC"/>
                </a:solidFill>
                <a:latin typeface="Aptos"/>
              </a:rPr>
              <a:t>The contribution of RASCA is in the development of a comprehensive framework for evaluation from a reliability perspective that includes sentiment classification as well as confidence estimation and calibration.</a:t>
            </a:r>
            <a:endParaRPr sz="18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95CFF"/>
                </a:solidFill>
                <a:latin typeface="Aptos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10058400" cy="38318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dirty="0">
                <a:solidFill>
                  <a:schemeClr val="bg1"/>
                </a:solidFill>
              </a:rPr>
              <a:t>• Validate on newer and cross-domain social-media datasets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• Compare TF-IDF reliability with transformer-based representations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• Investigate stronger calibration and uncertainty methods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• Conduct structured human review of high-confidence errors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• Evaluate deployment-oriented risk and coverage objectives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Anticipated Viva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49047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Why RASCA?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92807"/>
            <a:ext cx="4800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A7B4CD"/>
                </a:solidFill>
                <a:latin typeface="Aptos"/>
              </a:rPr>
              <a:t>The accuracy of classification alone is not an indicator of the reliability of any automated decision.</a:t>
            </a:r>
            <a:endParaRPr sz="11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73368" y="149047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Why TF-IDF and classical ML?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892807"/>
            <a:ext cx="4800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A7B4CD"/>
                </a:solidFill>
                <a:latin typeface="Aptos"/>
              </a:rPr>
              <a:t>The advantages include a lightweight and reproducible starting point for reliability.</a:t>
            </a:r>
            <a:endParaRPr sz="11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7" y="29992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Why Logistic Regression?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01568"/>
            <a:ext cx="4800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A7B4CD"/>
                </a:solidFill>
                <a:latin typeface="Aptos"/>
              </a:rPr>
              <a:t>It was the best performer on the test among all the tested models.</a:t>
            </a:r>
            <a:endParaRPr sz="11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73368" y="29992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Did calibration solve reliability completely?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401568"/>
            <a:ext cx="4800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A7B4CD"/>
                </a:solidFill>
                <a:latin typeface="Aptos"/>
              </a:rPr>
              <a:t>While ECE got better, there was no change in the Brier score.</a:t>
            </a:r>
            <a:endParaRPr sz="11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7" y="45079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Why selective prediction?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910328"/>
            <a:ext cx="4800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A7B4CD"/>
                </a:solidFill>
                <a:latin typeface="Aptos"/>
              </a:rPr>
              <a:t>It creates a definite risk versus coverage compromise and sends unclear cases for further evaluation.</a:t>
            </a:r>
            <a:endParaRPr sz="11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73368" y="45079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What is the main contribution?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910328"/>
            <a:ext cx="4800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dirty="0">
                <a:solidFill>
                  <a:srgbClr val="A7B4CD"/>
                </a:solidFill>
                <a:latin typeface="Aptos"/>
              </a:rPr>
              <a:t>The integrated framework for reliability-based evaluation and decision should be viewed as such and not as the proposal of a new classifier.</a:t>
            </a:r>
            <a:endParaRPr sz="1100" b="0" dirty="0">
              <a:solidFill>
                <a:srgbClr val="A7B4CD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8FAFC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7B4CD"/>
                </a:solidFill>
                <a:latin typeface="Aptos"/>
              </a:rPr>
              <a:t>Key references explicitly used in the dissertation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7B4CD"/>
                </a:solidFill>
                <a:latin typeface="Aptos"/>
              </a:defRPr>
            </a:pPr>
            <a:r>
              <a:t>Anggraini, V., Bella, C., Bastian, Muthoharoh, L., Satria, A. and Manullang, M.C.T. (2026) ‘A comparative analysis of machine learning and deep learning models for tweet sentiment classification: a case study on the Sentiment140 dataset’, arXiv. doi:10.48550/arXiv.2605.04888.</a:t>
            </a:r>
          </a:p>
          <a:p>
            <a:pPr>
              <a:spcAft>
                <a:spcPts val="1000"/>
              </a:spcAft>
              <a:defRPr sz="1100" b="0">
                <a:solidFill>
                  <a:srgbClr val="A7B4CD"/>
                </a:solidFill>
                <a:latin typeface="Aptos"/>
              </a:defRPr>
            </a:pPr>
            <a:r>
              <a:t>Dabah, L. and Tirer, T. (2025) ‘On temperature scaling and conformal prediction of deep classifiers’, Proceedings of the 42nd International Conference on Machine Learning, 267, pp.11813–11845.</a:t>
            </a:r>
          </a:p>
          <a:p>
            <a:pPr>
              <a:spcAft>
                <a:spcPts val="1000"/>
              </a:spcAft>
              <a:defRPr sz="1100" b="0">
                <a:solidFill>
                  <a:srgbClr val="A7B4CD"/>
                </a:solidFill>
                <a:latin typeface="Aptos"/>
              </a:defRPr>
            </a:pPr>
            <a:r>
              <a:t>Dong, J., Jiang, Z., Pan, D., Chen, Z., Guan, Q., Zhang, H., Gui, G. and Gui, W. (2025) ‘A survey on confidence calibration of deep learning-based classification models under class imbalance data’, IEEE Transactions on Neural Networks and Learning Systems, 36(9), pp.15664–15684.</a:t>
            </a:r>
          </a:p>
          <a:p>
            <a:pPr>
              <a:spcAft>
                <a:spcPts val="1000"/>
              </a:spcAft>
              <a:defRPr sz="1100" b="0">
                <a:solidFill>
                  <a:srgbClr val="A7B4CD"/>
                </a:solidFill>
                <a:latin typeface="Aptos"/>
              </a:defRPr>
            </a:pPr>
            <a:r>
              <a:t>Flores, J., Ernst, M. and Cheung, J.C.K. (2025) ‘Improving the calibration of confidence scores in text generation using the output distribution’s characteristics’, Proceedings of ACL 2025: Short Papers, pp.172–182.</a:t>
            </a:r>
          </a:p>
          <a:p>
            <a:pPr>
              <a:spcAft>
                <a:spcPts val="1000"/>
              </a:spcAft>
              <a:defRPr sz="1100" b="0">
                <a:solidFill>
                  <a:srgbClr val="A7B4CD"/>
                </a:solidFill>
                <a:latin typeface="Aptos"/>
              </a:defRPr>
            </a:pPr>
            <a:r>
              <a:t>Shin et al. (2025) and Albadarneh et al. (2025) — recent literature discussed in the dissertation on sentiment analysis and the transition from traditional ML to modern deep-learning approaches.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7B4CD"/>
                </a:solidFill>
                <a:latin typeface="Aptos"/>
              </a:rPr>
              <a:t>RASCA • CDS Dissertation Presentation   |   18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16</TotalTime>
  <Words>1553</Words>
  <Application>Microsoft Macintosh PowerPoint</Application>
  <PresentationFormat>Widescreen</PresentationFormat>
  <Paragraphs>255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Georgia</vt:lpstr>
      <vt:lpstr>Wingdings</vt:lpstr>
      <vt:lpstr>Wingdings 2</vt:lpstr>
      <vt:lpstr>Civic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Yatin</cp:lastModifiedBy>
  <cp:revision>6</cp:revision>
  <dcterms:created xsi:type="dcterms:W3CDTF">2013-01-27T09:14:16Z</dcterms:created>
  <dcterms:modified xsi:type="dcterms:W3CDTF">2026-09-25T15:26:08Z</dcterms:modified>
  <cp:category/>
</cp:coreProperties>
</file>