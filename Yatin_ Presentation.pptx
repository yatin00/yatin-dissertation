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96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9" r:id="rId14"/>
    <p:sldId id="270" r:id="rId15"/>
    <p:sldId id="271" r:id="rId16"/>
    <p:sldId id="272" r:id="rId17"/>
    <p:sldId id="273" r:id="rId1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>
        <p:scale>
          <a:sx n="89" d="100"/>
          <a:sy n="89" d="100"/>
        </p:scale>
        <p:origin x="-403" y="-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/>
          <p:cNvSpPr>
            <a:spLocks noChangeArrowheads="1"/>
          </p:cNvSpPr>
          <p:nvPr/>
        </p:nvSpPr>
        <p:spPr bwMode="white">
          <a:xfrm>
            <a:off x="0" y="6705600"/>
            <a:ext cx="12192000" cy="1524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9" name="Rectangle 18"/>
          <p:cNvSpPr>
            <a:spLocks noChangeArrowheads="1"/>
          </p:cNvSpPr>
          <p:nvPr/>
        </p:nvSpPr>
        <p:spPr bwMode="white">
          <a:xfrm>
            <a:off x="11988800" y="3048"/>
            <a:ext cx="203200" cy="68580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8" name="Rectangle 17"/>
          <p:cNvSpPr>
            <a:spLocks noChangeArrowheads="1"/>
          </p:cNvSpPr>
          <p:nvPr/>
        </p:nvSpPr>
        <p:spPr bwMode="white">
          <a:xfrm>
            <a:off x="0" y="0"/>
            <a:ext cx="203200" cy="68580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6" name="Rectangle 15"/>
          <p:cNvSpPr>
            <a:spLocks noChangeArrowheads="1"/>
          </p:cNvSpPr>
          <p:nvPr/>
        </p:nvSpPr>
        <p:spPr bwMode="white">
          <a:xfrm>
            <a:off x="0" y="0"/>
            <a:ext cx="12192000" cy="25146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2" name="Rectangle 11"/>
          <p:cNvSpPr>
            <a:spLocks noChangeArrowheads="1"/>
          </p:cNvSpPr>
          <p:nvPr/>
        </p:nvSpPr>
        <p:spPr bwMode="auto">
          <a:xfrm>
            <a:off x="195072" y="6391657"/>
            <a:ext cx="11777472" cy="309563"/>
          </a:xfrm>
          <a:prstGeom prst="rect">
            <a:avLst/>
          </a:prstGeom>
          <a:solidFill>
            <a:schemeClr val="accent3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9" name="Subtitle 8"/>
          <p:cNvSpPr>
            <a:spLocks noGrp="1"/>
          </p:cNvSpPr>
          <p:nvPr>
            <p:ph type="subTitle" idx="1"/>
          </p:nvPr>
        </p:nvSpPr>
        <p:spPr>
          <a:xfrm>
            <a:off x="1828800" y="2819400"/>
            <a:ext cx="8534400" cy="1752600"/>
          </a:xfrm>
        </p:spPr>
        <p:txBody>
          <a:bodyPr/>
          <a:lstStyle>
            <a:lvl1pPr marL="0" indent="0" algn="ctr">
              <a:buNone/>
              <a:defRPr sz="1600" b="1" cap="all" spc="250" baseline="0">
                <a:solidFill>
                  <a:schemeClr val="tx2"/>
                </a:solidFill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</a:lstStyle>
          <a:p>
            <a:r>
              <a:rPr kumimoji="0" lang="en-US" smtClean="0"/>
              <a:t>Click to edit Master subtitle style</a:t>
            </a:r>
            <a:endParaRPr kumimoji="0" lang="en-US"/>
          </a:p>
        </p:txBody>
      </p:sp>
      <p:sp>
        <p:nvSpPr>
          <p:cNvPr id="28" name="Date Placeholder 2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9/24/2026</a:t>
            </a:fld>
            <a:endParaRPr lang="en-US"/>
          </a:p>
        </p:txBody>
      </p:sp>
      <p:sp>
        <p:nvSpPr>
          <p:cNvPr id="17" name="Footer Placeholder 1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traight Connector 6"/>
          <p:cNvSpPr>
            <a:spLocks noChangeShapeType="1"/>
          </p:cNvSpPr>
          <p:nvPr/>
        </p:nvSpPr>
        <p:spPr bwMode="auto">
          <a:xfrm>
            <a:off x="207264" y="2420112"/>
            <a:ext cx="11777472" cy="0"/>
          </a:xfrm>
          <a:prstGeom prst="line">
            <a:avLst/>
          </a:prstGeom>
          <a:noFill/>
          <a:ln w="11430" cap="flat" cmpd="sng" algn="ctr">
            <a:solidFill>
              <a:schemeClr val="accent3">
                <a:shade val="75000"/>
              </a:schemeClr>
            </a:solidFill>
            <a:prstDash val="sysDash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0" name="Rectangle 9"/>
          <p:cNvSpPr>
            <a:spLocks noChangeArrowheads="1"/>
          </p:cNvSpPr>
          <p:nvPr/>
        </p:nvSpPr>
        <p:spPr bwMode="auto">
          <a:xfrm>
            <a:off x="203200" y="152400"/>
            <a:ext cx="11777472" cy="6547104"/>
          </a:xfrm>
          <a:prstGeom prst="rect">
            <a:avLst/>
          </a:prstGeom>
          <a:noFill/>
          <a:ln w="9525" cap="flat" cmpd="sng" algn="ctr">
            <a:solidFill>
              <a:schemeClr val="accent3">
                <a:shade val="75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 dirty="0"/>
          </a:p>
        </p:txBody>
      </p:sp>
      <p:sp>
        <p:nvSpPr>
          <p:cNvPr id="13" name="Oval 12"/>
          <p:cNvSpPr/>
          <p:nvPr/>
        </p:nvSpPr>
        <p:spPr>
          <a:xfrm>
            <a:off x="5689600" y="2115312"/>
            <a:ext cx="812800" cy="609600"/>
          </a:xfrm>
          <a:prstGeom prst="ellipse">
            <a:avLst/>
          </a:prstGeom>
          <a:solidFill>
            <a:srgbClr val="FFFFFF"/>
          </a:solidFill>
          <a:ln w="15875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4" name="Oval 13"/>
          <p:cNvSpPr/>
          <p:nvPr/>
        </p:nvSpPr>
        <p:spPr>
          <a:xfrm>
            <a:off x="5815584" y="2209800"/>
            <a:ext cx="560832" cy="420624"/>
          </a:xfrm>
          <a:prstGeom prst="ellipse">
            <a:avLst/>
          </a:prstGeom>
          <a:solidFill>
            <a:srgbClr val="FFFFFF"/>
          </a:solidFill>
          <a:ln w="50800" cap="rnd" cmpd="dbl" algn="ctr">
            <a:solidFill>
              <a:schemeClr val="accent3">
                <a:shade val="75000"/>
              </a:schemeClr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29" name="Slide Number Placeholder 28"/>
          <p:cNvSpPr>
            <a:spLocks noGrp="1"/>
          </p:cNvSpPr>
          <p:nvPr>
            <p:ph type="sldNum" sz="quarter" idx="12"/>
          </p:nvPr>
        </p:nvSpPr>
        <p:spPr>
          <a:xfrm>
            <a:off x="5791200" y="2199451"/>
            <a:ext cx="609600" cy="441325"/>
          </a:xfrm>
        </p:spPr>
        <p:txBody>
          <a:bodyPr/>
          <a:lstStyle>
            <a:lvl1pPr>
              <a:defRPr>
                <a:solidFill>
                  <a:schemeClr val="accent3">
                    <a:shade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914400" y="381000"/>
            <a:ext cx="10363200" cy="1752600"/>
          </a:xfrm>
        </p:spPr>
        <p:txBody>
          <a:bodyPr anchor="b"/>
          <a:lstStyle>
            <a:lvl1pPr>
              <a:defRPr sz="4200">
                <a:solidFill>
                  <a:schemeClr val="accent1"/>
                </a:solidFill>
              </a:defRPr>
            </a:lvl1pPr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accent3">
                    <a:shade val="75000"/>
                  </a:schemeClr>
                </a:solidFill>
              </a:defRPr>
            </a:lvl1pPr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815584" y="1026373"/>
            <a:ext cx="609600" cy="4413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Content Placeholder 7"/>
          <p:cNvSpPr>
            <a:spLocks noGrp="1"/>
          </p:cNvSpPr>
          <p:nvPr>
            <p:ph sz="quarter" idx="1"/>
          </p:nvPr>
        </p:nvSpPr>
        <p:spPr>
          <a:xfrm>
            <a:off x="402336" y="1527048"/>
            <a:ext cx="11338560" cy="4572000"/>
          </a:xfrm>
        </p:spPr>
        <p:txBody>
          <a:bodyPr/>
          <a:lstStyle/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/>
          <p:cNvSpPr>
            <a:spLocks noChangeArrowheads="1"/>
          </p:cNvSpPr>
          <p:nvPr/>
        </p:nvSpPr>
        <p:spPr bwMode="white">
          <a:xfrm>
            <a:off x="0" y="0"/>
            <a:ext cx="203200" cy="68580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5" name="Rectangle 14"/>
          <p:cNvSpPr>
            <a:spLocks noChangeArrowheads="1"/>
          </p:cNvSpPr>
          <p:nvPr/>
        </p:nvSpPr>
        <p:spPr bwMode="white">
          <a:xfrm>
            <a:off x="0" y="6705600"/>
            <a:ext cx="12192000" cy="1524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6" name="Rectangle 15"/>
          <p:cNvSpPr>
            <a:spLocks noChangeArrowheads="1"/>
          </p:cNvSpPr>
          <p:nvPr/>
        </p:nvSpPr>
        <p:spPr bwMode="white">
          <a:xfrm>
            <a:off x="0" y="0"/>
            <a:ext cx="12192000" cy="1524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8" name="Rectangle 17"/>
          <p:cNvSpPr>
            <a:spLocks noChangeArrowheads="1"/>
          </p:cNvSpPr>
          <p:nvPr/>
        </p:nvSpPr>
        <p:spPr bwMode="white">
          <a:xfrm>
            <a:off x="11988800" y="19050"/>
            <a:ext cx="203200" cy="68580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9" name="Rectangle 18"/>
          <p:cNvSpPr>
            <a:spLocks noChangeArrowheads="1"/>
          </p:cNvSpPr>
          <p:nvPr/>
        </p:nvSpPr>
        <p:spPr bwMode="white">
          <a:xfrm>
            <a:off x="203200" y="2286000"/>
            <a:ext cx="11777472" cy="3048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2" name="Rectangle 11"/>
          <p:cNvSpPr>
            <a:spLocks noChangeArrowheads="1"/>
          </p:cNvSpPr>
          <p:nvPr/>
        </p:nvSpPr>
        <p:spPr bwMode="auto">
          <a:xfrm>
            <a:off x="207264" y="142352"/>
            <a:ext cx="11777472" cy="2139696"/>
          </a:xfrm>
          <a:prstGeom prst="rect">
            <a:avLst/>
          </a:prstGeom>
          <a:solidFill>
            <a:schemeClr val="accent1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824568" y="2743200"/>
            <a:ext cx="8640232" cy="1673225"/>
          </a:xfrm>
        </p:spPr>
        <p:txBody>
          <a:bodyPr anchor="t"/>
          <a:lstStyle>
            <a:lvl1pPr marL="0" indent="0" algn="ctr">
              <a:buNone/>
              <a:defRPr sz="1600" b="1" cap="all" spc="250" baseline="0">
                <a:solidFill>
                  <a:schemeClr val="tx2"/>
                </a:solidFill>
              </a:defRPr>
            </a:lvl1pPr>
            <a:lvl2pPr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  <p:sp>
        <p:nvSpPr>
          <p:cNvPr id="13" name="Rectangle 12"/>
          <p:cNvSpPr>
            <a:spLocks noChangeArrowheads="1"/>
          </p:cNvSpPr>
          <p:nvPr/>
        </p:nvSpPr>
        <p:spPr bwMode="auto">
          <a:xfrm>
            <a:off x="195072" y="6391657"/>
            <a:ext cx="11777472" cy="309563"/>
          </a:xfrm>
          <a:prstGeom prst="rect">
            <a:avLst/>
          </a:prstGeom>
          <a:solidFill>
            <a:schemeClr val="accent3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4" name="Rectangle 13"/>
          <p:cNvSpPr>
            <a:spLocks noChangeArrowheads="1"/>
          </p:cNvSpPr>
          <p:nvPr/>
        </p:nvSpPr>
        <p:spPr bwMode="auto">
          <a:xfrm>
            <a:off x="203200" y="152400"/>
            <a:ext cx="11777472" cy="6547104"/>
          </a:xfrm>
          <a:prstGeom prst="rect">
            <a:avLst/>
          </a:prstGeom>
          <a:noFill/>
          <a:ln w="9525" cap="flat" cmpd="sng" algn="ctr">
            <a:solidFill>
              <a:schemeClr val="accent3">
                <a:shade val="75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9/24/2026</a:t>
            </a:fld>
            <a:endParaRPr lang="en-US"/>
          </a:p>
        </p:txBody>
      </p:sp>
      <p:sp>
        <p:nvSpPr>
          <p:cNvPr id="8" name="Straight Connector 7"/>
          <p:cNvSpPr>
            <a:spLocks noChangeShapeType="1"/>
          </p:cNvSpPr>
          <p:nvPr/>
        </p:nvSpPr>
        <p:spPr bwMode="auto">
          <a:xfrm>
            <a:off x="203200" y="2438400"/>
            <a:ext cx="11777472" cy="0"/>
          </a:xfrm>
          <a:prstGeom prst="line">
            <a:avLst/>
          </a:prstGeom>
          <a:noFill/>
          <a:ln w="11430" cap="flat" cmpd="sng" algn="ctr">
            <a:solidFill>
              <a:schemeClr val="accent3">
                <a:shade val="75000"/>
              </a:schemeClr>
            </a:solidFill>
            <a:prstDash val="sysDash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0" name="Oval 9"/>
          <p:cNvSpPr/>
          <p:nvPr/>
        </p:nvSpPr>
        <p:spPr>
          <a:xfrm>
            <a:off x="5689600" y="2115312"/>
            <a:ext cx="812800" cy="609600"/>
          </a:xfrm>
          <a:prstGeom prst="ellipse">
            <a:avLst/>
          </a:prstGeom>
          <a:solidFill>
            <a:srgbClr val="FFFFFF"/>
          </a:solidFill>
          <a:ln w="15875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1" name="Oval 10"/>
          <p:cNvSpPr/>
          <p:nvPr/>
        </p:nvSpPr>
        <p:spPr>
          <a:xfrm>
            <a:off x="5815584" y="2209800"/>
            <a:ext cx="560832" cy="420624"/>
          </a:xfrm>
          <a:prstGeom prst="ellipse">
            <a:avLst/>
          </a:prstGeom>
          <a:solidFill>
            <a:srgbClr val="FFFFFF"/>
          </a:solidFill>
          <a:ln w="50800" cap="rnd" cmpd="dbl" algn="ctr">
            <a:solidFill>
              <a:schemeClr val="accent3">
                <a:shade val="75000"/>
              </a:schemeClr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791200" y="2199451"/>
            <a:ext cx="609600" cy="441325"/>
          </a:xfrm>
        </p:spPr>
        <p:txBody>
          <a:bodyPr/>
          <a:lstStyle>
            <a:lvl1pPr>
              <a:defRPr>
                <a:solidFill>
                  <a:schemeClr val="accent3">
                    <a:shade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533400"/>
            <a:ext cx="10363200" cy="1524000"/>
          </a:xfrm>
        </p:spPr>
        <p:txBody>
          <a:bodyPr anchor="b"/>
          <a:lstStyle>
            <a:lvl1pPr algn="ctr">
              <a:buNone/>
              <a:defRPr sz="4200" b="0" cap="none" baseline="0">
                <a:solidFill>
                  <a:srgbClr val="FFFFFF"/>
                </a:solidFill>
              </a:defRPr>
            </a:lvl1pPr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02336" y="228600"/>
            <a:ext cx="11379200" cy="758952"/>
          </a:xfrm>
        </p:spPr>
        <p:txBody>
          <a:bodyPr/>
          <a:lstStyle/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721600" y="6409944"/>
            <a:ext cx="4059936" cy="36576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9/24/2026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Straight Connector 7"/>
          <p:cNvSpPr>
            <a:spLocks noChangeShapeType="1"/>
          </p:cNvSpPr>
          <p:nvPr/>
        </p:nvSpPr>
        <p:spPr bwMode="auto">
          <a:xfrm flipV="1">
            <a:off x="6084107" y="1575653"/>
            <a:ext cx="11895" cy="4819557"/>
          </a:xfrm>
          <a:prstGeom prst="line">
            <a:avLst/>
          </a:prstGeom>
          <a:noFill/>
          <a:ln w="9525" cap="flat" cmpd="sng" algn="ctr">
            <a:solidFill>
              <a:schemeClr val="tx2"/>
            </a:solidFill>
            <a:prstDash val="sysDash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0" name="Content Placeholder 9"/>
          <p:cNvSpPr>
            <a:spLocks noGrp="1"/>
          </p:cNvSpPr>
          <p:nvPr>
            <p:ph sz="half" idx="1"/>
          </p:nvPr>
        </p:nvSpPr>
        <p:spPr>
          <a:xfrm>
            <a:off x="402336" y="1371600"/>
            <a:ext cx="5384800" cy="4681728"/>
          </a:xfrm>
        </p:spPr>
        <p:txBody>
          <a:bodyPr/>
          <a:lstStyle>
            <a:lvl1pPr>
              <a:defRPr sz="2500"/>
            </a:lvl1pPr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12" name="Content Placeholder 11"/>
          <p:cNvSpPr>
            <a:spLocks noGrp="1"/>
          </p:cNvSpPr>
          <p:nvPr>
            <p:ph sz="half" idx="2"/>
          </p:nvPr>
        </p:nvSpPr>
        <p:spPr>
          <a:xfrm>
            <a:off x="6400800" y="1371600"/>
            <a:ext cx="5384800" cy="4681728"/>
          </a:xfrm>
        </p:spPr>
        <p:txBody>
          <a:bodyPr/>
          <a:lstStyle>
            <a:lvl1pPr>
              <a:defRPr sz="2500"/>
            </a:lvl1pPr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TxTwoObj" preserve="1">
  <p:cSld name="Comparison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traight Connector 9"/>
          <p:cNvSpPr>
            <a:spLocks noChangeShapeType="1"/>
          </p:cNvSpPr>
          <p:nvPr/>
        </p:nvSpPr>
        <p:spPr bwMode="auto">
          <a:xfrm flipV="1">
            <a:off x="6096000" y="2200275"/>
            <a:ext cx="0" cy="4187952"/>
          </a:xfrm>
          <a:prstGeom prst="line">
            <a:avLst/>
          </a:prstGeom>
          <a:noFill/>
          <a:ln w="9525" cap="flat" cmpd="sng" algn="ctr">
            <a:solidFill>
              <a:schemeClr val="tx2"/>
            </a:solidFill>
            <a:prstDash val="sysDash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20" name="Rectangle 19"/>
          <p:cNvSpPr>
            <a:spLocks noChangeArrowheads="1"/>
          </p:cNvSpPr>
          <p:nvPr/>
        </p:nvSpPr>
        <p:spPr bwMode="white">
          <a:xfrm>
            <a:off x="0" y="0"/>
            <a:ext cx="12192000" cy="14478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9" name="Rectangle 18"/>
          <p:cNvSpPr>
            <a:spLocks noChangeArrowheads="1"/>
          </p:cNvSpPr>
          <p:nvPr/>
        </p:nvSpPr>
        <p:spPr bwMode="white">
          <a:xfrm>
            <a:off x="0" y="6705600"/>
            <a:ext cx="12192000" cy="1524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21" name="Rectangle 20"/>
          <p:cNvSpPr>
            <a:spLocks noChangeArrowheads="1"/>
          </p:cNvSpPr>
          <p:nvPr/>
        </p:nvSpPr>
        <p:spPr bwMode="white">
          <a:xfrm>
            <a:off x="0" y="0"/>
            <a:ext cx="203200" cy="68580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22" name="Rectangle 21"/>
          <p:cNvSpPr>
            <a:spLocks noChangeArrowheads="1"/>
          </p:cNvSpPr>
          <p:nvPr/>
        </p:nvSpPr>
        <p:spPr bwMode="white">
          <a:xfrm>
            <a:off x="11988800" y="0"/>
            <a:ext cx="203200" cy="68580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1" name="Rectangle 10"/>
          <p:cNvSpPr/>
          <p:nvPr/>
        </p:nvSpPr>
        <p:spPr>
          <a:xfrm>
            <a:off x="203200" y="1371600"/>
            <a:ext cx="11777472" cy="914400"/>
          </a:xfrm>
          <a:prstGeom prst="rect">
            <a:avLst/>
          </a:prstGeom>
          <a:solidFill>
            <a:schemeClr val="accent1"/>
          </a:solidFill>
          <a:ln w="15875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3" name="Rectangle 12"/>
          <p:cNvSpPr>
            <a:spLocks noChangeArrowheads="1"/>
          </p:cNvSpPr>
          <p:nvPr/>
        </p:nvSpPr>
        <p:spPr bwMode="auto">
          <a:xfrm>
            <a:off x="194564" y="6391656"/>
            <a:ext cx="11777472" cy="310896"/>
          </a:xfrm>
          <a:prstGeom prst="rect">
            <a:avLst/>
          </a:prstGeom>
          <a:solidFill>
            <a:schemeClr val="accent3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02336" y="1524000"/>
            <a:ext cx="5386917" cy="732974"/>
          </a:xfrm>
          <a:noFill/>
          <a:ln w="15875" cap="rnd" cmpd="sng" algn="ctr">
            <a:noFill/>
            <a:prstDash val="solid"/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>
            <a:noAutofit/>
          </a:bodyPr>
          <a:lstStyle>
            <a:lvl1pPr marL="0" indent="0">
              <a:buNone/>
              <a:defRPr lang="en-US" sz="2200" b="1" dirty="0" smtClean="0">
                <a:solidFill>
                  <a:srgbClr val="FFFFFF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3"/>
          </p:nvPr>
        </p:nvSpPr>
        <p:spPr>
          <a:xfrm>
            <a:off x="6388441" y="1524000"/>
            <a:ext cx="5389033" cy="731520"/>
          </a:xfrm>
          <a:noFill/>
          <a:ln w="15875" cap="rnd" cmpd="sng" algn="ctr">
            <a:noFill/>
            <a:prstDash val="solid"/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anchor="ctr">
            <a:noAutofit/>
          </a:bodyPr>
          <a:lstStyle>
            <a:lvl1pPr marL="0" indent="0">
              <a:buNone/>
              <a:defRPr sz="2200" b="1"/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406400" y="6409944"/>
            <a:ext cx="4775200" cy="365760"/>
          </a:xfrm>
        </p:spPr>
        <p:txBody>
          <a:bodyPr/>
          <a:lstStyle/>
          <a:p>
            <a:endParaRPr lang="en-US"/>
          </a:p>
        </p:txBody>
      </p:sp>
      <p:sp>
        <p:nvSpPr>
          <p:cNvPr id="15" name="Straight Connector 14"/>
          <p:cNvSpPr>
            <a:spLocks noChangeShapeType="1"/>
          </p:cNvSpPr>
          <p:nvPr/>
        </p:nvSpPr>
        <p:spPr bwMode="auto">
          <a:xfrm>
            <a:off x="203200" y="1280160"/>
            <a:ext cx="11777472" cy="0"/>
          </a:xfrm>
          <a:prstGeom prst="line">
            <a:avLst/>
          </a:prstGeom>
          <a:noFill/>
          <a:ln w="11430" cap="flat" cmpd="sng" algn="ctr">
            <a:solidFill>
              <a:schemeClr val="accent3">
                <a:shade val="75000"/>
              </a:schemeClr>
            </a:solidFill>
            <a:prstDash val="sysDash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8" name="Rectangle 17"/>
          <p:cNvSpPr>
            <a:spLocks noChangeArrowheads="1"/>
          </p:cNvSpPr>
          <p:nvPr/>
        </p:nvSpPr>
        <p:spPr bwMode="auto">
          <a:xfrm>
            <a:off x="203200" y="155448"/>
            <a:ext cx="11777472" cy="6547104"/>
          </a:xfrm>
          <a:prstGeom prst="rect">
            <a:avLst/>
          </a:prstGeom>
          <a:noFill/>
          <a:ln w="9525" cap="flat" cmpd="sng" algn="ctr">
            <a:solidFill>
              <a:schemeClr val="accent3">
                <a:shade val="75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 dirty="0"/>
          </a:p>
        </p:txBody>
      </p:sp>
      <p:sp>
        <p:nvSpPr>
          <p:cNvPr id="24" name="Content Placeholder 23"/>
          <p:cNvSpPr>
            <a:spLocks noGrp="1"/>
          </p:cNvSpPr>
          <p:nvPr>
            <p:ph sz="quarter" idx="2"/>
          </p:nvPr>
        </p:nvSpPr>
        <p:spPr>
          <a:xfrm>
            <a:off x="402336" y="2471383"/>
            <a:ext cx="5388864" cy="3818404"/>
          </a:xfrm>
        </p:spPr>
        <p:txBody>
          <a:bodyPr/>
          <a:lstStyle/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26" name="Content Placeholder 25"/>
          <p:cNvSpPr>
            <a:spLocks noGrp="1"/>
          </p:cNvSpPr>
          <p:nvPr>
            <p:ph sz="quarter" idx="4"/>
          </p:nvPr>
        </p:nvSpPr>
        <p:spPr>
          <a:xfrm>
            <a:off x="6400800" y="2471383"/>
            <a:ext cx="5384800" cy="3822192"/>
          </a:xfrm>
        </p:spPr>
        <p:txBody>
          <a:bodyPr/>
          <a:lstStyle/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25" name="Oval 24"/>
          <p:cNvSpPr/>
          <p:nvPr/>
        </p:nvSpPr>
        <p:spPr>
          <a:xfrm>
            <a:off x="5689600" y="956036"/>
            <a:ext cx="812800" cy="609600"/>
          </a:xfrm>
          <a:prstGeom prst="ellipse">
            <a:avLst/>
          </a:prstGeom>
          <a:solidFill>
            <a:srgbClr val="FFFFFF"/>
          </a:solidFill>
          <a:ln w="15875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27" name="Oval 26"/>
          <p:cNvSpPr/>
          <p:nvPr/>
        </p:nvSpPr>
        <p:spPr>
          <a:xfrm>
            <a:off x="5815584" y="1050524"/>
            <a:ext cx="560832" cy="420624"/>
          </a:xfrm>
          <a:prstGeom prst="ellipse">
            <a:avLst/>
          </a:prstGeom>
          <a:solidFill>
            <a:srgbClr val="FFFFFF"/>
          </a:solidFill>
          <a:ln w="50800" cap="rnd" cmpd="dbl" algn="ctr">
            <a:solidFill>
              <a:schemeClr val="accent3">
                <a:shade val="75000"/>
              </a:schemeClr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5791200" y="1042417"/>
            <a:ext cx="609600" cy="441325"/>
          </a:xfrm>
        </p:spPr>
        <p:txBody>
          <a:bodyPr/>
          <a:lstStyle>
            <a:lvl1pPr algn="ctr">
              <a:defRPr/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23" name="Title 22"/>
          <p:cNvSpPr>
            <a:spLocks noGrp="1"/>
          </p:cNvSpPr>
          <p:nvPr>
            <p:ph type="title"/>
          </p:nvPr>
        </p:nvSpPr>
        <p:spPr/>
        <p:txBody>
          <a:bodyPr rtlCol="0" anchor="b" anchorCtr="0"/>
          <a:lstStyle/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5791200" y="1036021"/>
            <a:ext cx="609600" cy="4413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rrowheads="1"/>
          </p:cNvSpPr>
          <p:nvPr/>
        </p:nvSpPr>
        <p:spPr bwMode="white">
          <a:xfrm>
            <a:off x="0" y="6705600"/>
            <a:ext cx="12192000" cy="1524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8" name="Rectangle 7"/>
          <p:cNvSpPr>
            <a:spLocks noChangeArrowheads="1"/>
          </p:cNvSpPr>
          <p:nvPr/>
        </p:nvSpPr>
        <p:spPr bwMode="white">
          <a:xfrm>
            <a:off x="0" y="0"/>
            <a:ext cx="12192000" cy="155448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0" name="Rectangle 9"/>
          <p:cNvSpPr>
            <a:spLocks noChangeArrowheads="1"/>
          </p:cNvSpPr>
          <p:nvPr/>
        </p:nvSpPr>
        <p:spPr bwMode="white">
          <a:xfrm>
            <a:off x="11988800" y="0"/>
            <a:ext cx="203200" cy="68580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9" name="Rectangle 8"/>
          <p:cNvSpPr>
            <a:spLocks noChangeArrowheads="1"/>
          </p:cNvSpPr>
          <p:nvPr/>
        </p:nvSpPr>
        <p:spPr bwMode="white">
          <a:xfrm>
            <a:off x="0" y="0"/>
            <a:ext cx="203200" cy="68580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5" name="Rectangle 4"/>
          <p:cNvSpPr>
            <a:spLocks noChangeArrowheads="1"/>
          </p:cNvSpPr>
          <p:nvPr/>
        </p:nvSpPr>
        <p:spPr bwMode="auto">
          <a:xfrm>
            <a:off x="195072" y="6391657"/>
            <a:ext cx="11777472" cy="309563"/>
          </a:xfrm>
          <a:prstGeom prst="rect">
            <a:avLst/>
          </a:prstGeom>
          <a:solidFill>
            <a:schemeClr val="accent3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6" name="Rectangle 5"/>
          <p:cNvSpPr>
            <a:spLocks noChangeArrowheads="1"/>
          </p:cNvSpPr>
          <p:nvPr/>
        </p:nvSpPr>
        <p:spPr bwMode="auto">
          <a:xfrm>
            <a:off x="203200" y="158496"/>
            <a:ext cx="11777472" cy="6547104"/>
          </a:xfrm>
          <a:prstGeom prst="rect">
            <a:avLst/>
          </a:prstGeom>
          <a:noFill/>
          <a:ln w="9525" cap="flat" cmpd="sng" algn="ctr">
            <a:solidFill>
              <a:schemeClr val="accent3">
                <a:shade val="75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 dirty="0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5689600" y="6324600"/>
            <a:ext cx="812800" cy="441324"/>
          </a:xfr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/>
          <p:cNvSpPr>
            <a:spLocks noChangeArrowheads="1"/>
          </p:cNvSpPr>
          <p:nvPr/>
        </p:nvSpPr>
        <p:spPr bwMode="auto">
          <a:xfrm>
            <a:off x="203200" y="152400"/>
            <a:ext cx="11777472" cy="304800"/>
          </a:xfrm>
          <a:prstGeom prst="rect">
            <a:avLst/>
          </a:prstGeom>
          <a:solidFill>
            <a:schemeClr val="accent3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5" name="Rectangle 14"/>
          <p:cNvSpPr>
            <a:spLocks noChangeArrowheads="1"/>
          </p:cNvSpPr>
          <p:nvPr/>
        </p:nvSpPr>
        <p:spPr bwMode="white">
          <a:xfrm>
            <a:off x="0" y="6705600"/>
            <a:ext cx="12192000" cy="1524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8" name="Rectangle 17"/>
          <p:cNvSpPr>
            <a:spLocks noChangeArrowheads="1"/>
          </p:cNvSpPr>
          <p:nvPr/>
        </p:nvSpPr>
        <p:spPr bwMode="white">
          <a:xfrm>
            <a:off x="11988800" y="0"/>
            <a:ext cx="203200" cy="68580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6" name="Rectangle 15"/>
          <p:cNvSpPr>
            <a:spLocks noChangeArrowheads="1"/>
          </p:cNvSpPr>
          <p:nvPr/>
        </p:nvSpPr>
        <p:spPr bwMode="white">
          <a:xfrm>
            <a:off x="0" y="0"/>
            <a:ext cx="12192000" cy="118872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7" name="Rectangle 16"/>
          <p:cNvSpPr>
            <a:spLocks noChangeArrowheads="1"/>
          </p:cNvSpPr>
          <p:nvPr/>
        </p:nvSpPr>
        <p:spPr bwMode="white">
          <a:xfrm>
            <a:off x="0" y="0"/>
            <a:ext cx="203200" cy="68580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3" name="Rectangle 12"/>
          <p:cNvSpPr/>
          <p:nvPr/>
        </p:nvSpPr>
        <p:spPr>
          <a:xfrm>
            <a:off x="203200" y="609600"/>
            <a:ext cx="3657600" cy="5867400"/>
          </a:xfrm>
          <a:prstGeom prst="rect">
            <a:avLst/>
          </a:prstGeom>
          <a:solidFill>
            <a:schemeClr val="accent1"/>
          </a:solidFill>
          <a:ln w="15875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0" y="914400"/>
            <a:ext cx="3149600" cy="990600"/>
          </a:xfrm>
        </p:spPr>
        <p:txBody>
          <a:bodyPr anchor="b">
            <a:noAutofit/>
          </a:bodyPr>
          <a:lstStyle>
            <a:lvl1pPr algn="l">
              <a:buNone/>
              <a:defRPr sz="2200" b="1">
                <a:solidFill>
                  <a:srgbClr val="FFFFFF"/>
                </a:solidFill>
              </a:defRPr>
            </a:lvl1pPr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2"/>
          </p:nvPr>
        </p:nvSpPr>
        <p:spPr>
          <a:xfrm>
            <a:off x="508000" y="1981201"/>
            <a:ext cx="3149600" cy="4144963"/>
          </a:xfrm>
        </p:spPr>
        <p:txBody>
          <a:bodyPr/>
          <a:lstStyle>
            <a:lvl1pPr marL="0" indent="0">
              <a:spcAft>
                <a:spcPts val="1000"/>
              </a:spcAft>
              <a:buNone/>
              <a:defRPr sz="1600">
                <a:solidFill>
                  <a:srgbClr val="FFFFFF"/>
                </a:solidFill>
              </a:defRPr>
            </a:lvl1pPr>
            <a:lvl2pPr>
              <a:buNone/>
              <a:defRPr sz="1200"/>
            </a:lvl2pPr>
            <a:lvl3pPr>
              <a:buNone/>
              <a:defRPr sz="1000"/>
            </a:lvl3pPr>
            <a:lvl4pPr>
              <a:buNone/>
              <a:defRPr sz="900"/>
            </a:lvl4pPr>
            <a:lvl5pPr>
              <a:buNone/>
              <a:defRPr sz="900"/>
            </a:lvl5pPr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  <p:sp>
        <p:nvSpPr>
          <p:cNvPr id="8" name="Rectangle 7"/>
          <p:cNvSpPr>
            <a:spLocks noChangeArrowheads="1"/>
          </p:cNvSpPr>
          <p:nvPr/>
        </p:nvSpPr>
        <p:spPr bwMode="auto">
          <a:xfrm>
            <a:off x="203200" y="152400"/>
            <a:ext cx="11777472" cy="6547104"/>
          </a:xfrm>
          <a:prstGeom prst="rect">
            <a:avLst/>
          </a:prstGeom>
          <a:noFill/>
          <a:ln w="9525" cap="flat" cmpd="sng" algn="ctr">
            <a:solidFill>
              <a:schemeClr val="accent3">
                <a:shade val="75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 dirty="0"/>
          </a:p>
        </p:txBody>
      </p:sp>
      <p:sp>
        <p:nvSpPr>
          <p:cNvPr id="9" name="Straight Connector 8"/>
          <p:cNvSpPr>
            <a:spLocks noChangeShapeType="1"/>
          </p:cNvSpPr>
          <p:nvPr/>
        </p:nvSpPr>
        <p:spPr bwMode="auto">
          <a:xfrm>
            <a:off x="203200" y="533400"/>
            <a:ext cx="11777472" cy="0"/>
          </a:xfrm>
          <a:prstGeom prst="line">
            <a:avLst/>
          </a:prstGeom>
          <a:noFill/>
          <a:ln w="11430" cap="flat" cmpd="sng" algn="ctr">
            <a:solidFill>
              <a:schemeClr val="accent3">
                <a:shade val="75000"/>
              </a:schemeClr>
            </a:solidFill>
            <a:prstDash val="sysDash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20" name="Content Placeholder 19"/>
          <p:cNvSpPr>
            <a:spLocks noGrp="1"/>
          </p:cNvSpPr>
          <p:nvPr>
            <p:ph sz="quarter" idx="1"/>
          </p:nvPr>
        </p:nvSpPr>
        <p:spPr>
          <a:xfrm>
            <a:off x="4165600" y="685800"/>
            <a:ext cx="7518400" cy="5410200"/>
          </a:xfrm>
        </p:spPr>
        <p:txBody>
          <a:bodyPr/>
          <a:lstStyle/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10" name="Oval 9"/>
          <p:cNvSpPr/>
          <p:nvPr/>
        </p:nvSpPr>
        <p:spPr>
          <a:xfrm>
            <a:off x="1727200" y="228600"/>
            <a:ext cx="812800" cy="609600"/>
          </a:xfrm>
          <a:prstGeom prst="ellipse">
            <a:avLst/>
          </a:prstGeom>
          <a:solidFill>
            <a:srgbClr val="FFFFFF"/>
          </a:solidFill>
          <a:ln w="15875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1" name="Oval 10"/>
          <p:cNvSpPr/>
          <p:nvPr/>
        </p:nvSpPr>
        <p:spPr>
          <a:xfrm>
            <a:off x="1853184" y="323088"/>
            <a:ext cx="560832" cy="420624"/>
          </a:xfrm>
          <a:prstGeom prst="ellipse">
            <a:avLst/>
          </a:prstGeom>
          <a:solidFill>
            <a:srgbClr val="FFFFFF"/>
          </a:solidFill>
          <a:ln w="50800" cap="rnd" cmpd="dbl" algn="ctr">
            <a:solidFill>
              <a:schemeClr val="accent3">
                <a:shade val="75000"/>
              </a:schemeClr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828800" y="312739"/>
            <a:ext cx="609600" cy="441325"/>
          </a:xfrm>
        </p:spPr>
        <p:txBody>
          <a:bodyPr/>
          <a:lstStyle>
            <a:lvl1pPr>
              <a:defRPr>
                <a:solidFill>
                  <a:schemeClr val="accent3">
                    <a:shade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21" name="Rectangle 20"/>
          <p:cNvSpPr>
            <a:spLocks noChangeArrowheads="1"/>
          </p:cNvSpPr>
          <p:nvPr/>
        </p:nvSpPr>
        <p:spPr bwMode="auto">
          <a:xfrm>
            <a:off x="199136" y="6388386"/>
            <a:ext cx="11777472" cy="309563"/>
          </a:xfrm>
          <a:prstGeom prst="rect">
            <a:avLst/>
          </a:prstGeom>
          <a:solidFill>
            <a:schemeClr val="accent3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02336" y="6410848"/>
            <a:ext cx="4511040" cy="365760"/>
          </a:xfrm>
        </p:spPr>
        <p:txBody>
          <a:bodyPr/>
          <a:lstStyle/>
          <a:p>
            <a:endParaRPr lang="en-US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Straight Connector 20"/>
          <p:cNvSpPr>
            <a:spLocks noChangeShapeType="1"/>
          </p:cNvSpPr>
          <p:nvPr/>
        </p:nvSpPr>
        <p:spPr bwMode="auto">
          <a:xfrm>
            <a:off x="203200" y="533400"/>
            <a:ext cx="11777472" cy="0"/>
          </a:xfrm>
          <a:prstGeom prst="line">
            <a:avLst/>
          </a:prstGeom>
          <a:noFill/>
          <a:ln w="11430" cap="flat" cmpd="sng" algn="ctr">
            <a:solidFill>
              <a:schemeClr val="accent3">
                <a:shade val="75000"/>
              </a:schemeClr>
            </a:solidFill>
            <a:prstDash val="sysDash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9" name="Rectangle 18"/>
          <p:cNvSpPr>
            <a:spLocks noChangeArrowheads="1"/>
          </p:cNvSpPr>
          <p:nvPr/>
        </p:nvSpPr>
        <p:spPr bwMode="white">
          <a:xfrm>
            <a:off x="0" y="6705600"/>
            <a:ext cx="12192000" cy="1524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6" name="Rectangle 15"/>
          <p:cNvSpPr>
            <a:spLocks noChangeArrowheads="1"/>
          </p:cNvSpPr>
          <p:nvPr/>
        </p:nvSpPr>
        <p:spPr bwMode="white">
          <a:xfrm>
            <a:off x="11988800" y="0"/>
            <a:ext cx="203200" cy="68580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7" name="Rectangle 16"/>
          <p:cNvSpPr>
            <a:spLocks noChangeArrowheads="1"/>
          </p:cNvSpPr>
          <p:nvPr/>
        </p:nvSpPr>
        <p:spPr bwMode="white">
          <a:xfrm>
            <a:off x="0" y="0"/>
            <a:ext cx="12192000" cy="1524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8" name="Rectangle 17"/>
          <p:cNvSpPr>
            <a:spLocks noChangeArrowheads="1"/>
          </p:cNvSpPr>
          <p:nvPr/>
        </p:nvSpPr>
        <p:spPr bwMode="white">
          <a:xfrm>
            <a:off x="0" y="0"/>
            <a:ext cx="203200" cy="68580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 dirty="0"/>
          </a:p>
        </p:txBody>
      </p:sp>
      <p:sp>
        <p:nvSpPr>
          <p:cNvPr id="20" name="Rectangle 19"/>
          <p:cNvSpPr>
            <a:spLocks noChangeArrowheads="1"/>
          </p:cNvSpPr>
          <p:nvPr/>
        </p:nvSpPr>
        <p:spPr bwMode="auto">
          <a:xfrm>
            <a:off x="203200" y="152400"/>
            <a:ext cx="11777472" cy="301752"/>
          </a:xfrm>
          <a:prstGeom prst="rect">
            <a:avLst/>
          </a:prstGeom>
          <a:solidFill>
            <a:schemeClr val="accent3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8" name="Rectangle 7"/>
          <p:cNvSpPr/>
          <p:nvPr/>
        </p:nvSpPr>
        <p:spPr>
          <a:xfrm>
            <a:off x="203200" y="609600"/>
            <a:ext cx="3657600" cy="5867400"/>
          </a:xfrm>
          <a:prstGeom prst="rect">
            <a:avLst/>
          </a:prstGeom>
          <a:solidFill>
            <a:schemeClr val="accent1"/>
          </a:solidFill>
          <a:ln w="15875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5" name="Rectangle 14"/>
          <p:cNvSpPr>
            <a:spLocks noChangeArrowheads="1"/>
          </p:cNvSpPr>
          <p:nvPr/>
        </p:nvSpPr>
        <p:spPr bwMode="auto">
          <a:xfrm>
            <a:off x="203200" y="155448"/>
            <a:ext cx="11777472" cy="6547104"/>
          </a:xfrm>
          <a:prstGeom prst="rect">
            <a:avLst/>
          </a:prstGeom>
          <a:noFill/>
          <a:ln w="9525" cap="flat" cmpd="sng" algn="ctr">
            <a:solidFill>
              <a:schemeClr val="accent3">
                <a:shade val="75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 dirty="0"/>
          </a:p>
        </p:txBody>
      </p:sp>
      <p:sp>
        <p:nvSpPr>
          <p:cNvPr id="12" name="Oval 11"/>
          <p:cNvSpPr/>
          <p:nvPr/>
        </p:nvSpPr>
        <p:spPr>
          <a:xfrm>
            <a:off x="1727200" y="228600"/>
            <a:ext cx="812800" cy="609600"/>
          </a:xfrm>
          <a:prstGeom prst="ellipse">
            <a:avLst/>
          </a:prstGeom>
          <a:solidFill>
            <a:srgbClr val="FFFFFF"/>
          </a:solidFill>
          <a:ln w="15875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3" name="Oval 12"/>
          <p:cNvSpPr/>
          <p:nvPr/>
        </p:nvSpPr>
        <p:spPr>
          <a:xfrm>
            <a:off x="1853184" y="323088"/>
            <a:ext cx="560832" cy="420624"/>
          </a:xfrm>
          <a:prstGeom prst="ellipse">
            <a:avLst/>
          </a:prstGeom>
          <a:solidFill>
            <a:srgbClr val="FFFFFF"/>
          </a:solidFill>
          <a:ln w="50800" cap="rnd" cmpd="dbl" algn="ctr">
            <a:solidFill>
              <a:schemeClr val="accent3">
                <a:shade val="75000"/>
              </a:schemeClr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828800" y="312739"/>
            <a:ext cx="609600" cy="4413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000500" y="5029200"/>
            <a:ext cx="7823200" cy="1219200"/>
          </a:xfrm>
        </p:spPr>
        <p:txBody>
          <a:bodyPr anchor="t">
            <a:noAutofit/>
          </a:bodyPr>
          <a:lstStyle>
            <a:lvl1pPr algn="l">
              <a:buNone/>
              <a:defRPr sz="2400" b="1">
                <a:solidFill>
                  <a:schemeClr val="tx2"/>
                </a:solidFill>
              </a:defRPr>
            </a:lvl1pPr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4000500" y="609600"/>
            <a:ext cx="7823200" cy="4267200"/>
          </a:xfrm>
        </p:spPr>
        <p:txBody>
          <a:bodyPr/>
          <a:lstStyle>
            <a:lvl1pPr marL="0" indent="0">
              <a:buNone/>
              <a:defRPr sz="3200"/>
            </a:lvl1pPr>
          </a:lstStyle>
          <a:p>
            <a:r>
              <a:rPr kumimoji="0" lang="en-US" smtClean="0"/>
              <a:t>Click icon to add picture</a:t>
            </a:r>
            <a:endParaRPr kumimoji="0"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0" y="990600"/>
            <a:ext cx="3251200" cy="5257800"/>
          </a:xfrm>
        </p:spPr>
        <p:txBody>
          <a:bodyPr/>
          <a:lstStyle>
            <a:lvl1pPr marL="0" indent="0">
              <a:spcAft>
                <a:spcPts val="1000"/>
              </a:spcAft>
              <a:buFontTx/>
              <a:buNone/>
              <a:defRPr sz="1600">
                <a:solidFill>
                  <a:srgbClr val="FFFFFF"/>
                </a:solidFill>
              </a:defRPr>
            </a:lvl1pPr>
            <a:lvl2pPr>
              <a:defRPr sz="1200"/>
            </a:lvl2pPr>
            <a:lvl3pPr>
              <a:defRPr sz="1000"/>
            </a:lvl3pPr>
            <a:lvl4pPr>
              <a:defRPr sz="900"/>
            </a:lvl4pPr>
            <a:lvl5pPr>
              <a:defRPr sz="900"/>
            </a:lvl5pPr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  <p:sp>
        <p:nvSpPr>
          <p:cNvPr id="22" name="Rectangle 21"/>
          <p:cNvSpPr>
            <a:spLocks noChangeArrowheads="1"/>
          </p:cNvSpPr>
          <p:nvPr/>
        </p:nvSpPr>
        <p:spPr bwMode="auto">
          <a:xfrm>
            <a:off x="199136" y="6388386"/>
            <a:ext cx="11777472" cy="309563"/>
          </a:xfrm>
          <a:prstGeom prst="rect">
            <a:avLst/>
          </a:prstGeom>
          <a:solidFill>
            <a:schemeClr val="accent3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717536" y="6404984"/>
            <a:ext cx="4059936" cy="36576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9/24/2026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02336" y="6410848"/>
            <a:ext cx="4779264" cy="365760"/>
          </a:xfr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rrowheads="1"/>
          </p:cNvSpPr>
          <p:nvPr/>
        </p:nvSpPr>
        <p:spPr bwMode="white">
          <a:xfrm>
            <a:off x="0" y="6705600"/>
            <a:ext cx="12192000" cy="1524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8" name="Rectangle 7"/>
          <p:cNvSpPr>
            <a:spLocks noChangeArrowheads="1"/>
          </p:cNvSpPr>
          <p:nvPr/>
        </p:nvSpPr>
        <p:spPr bwMode="white">
          <a:xfrm>
            <a:off x="9347200" y="0"/>
            <a:ext cx="2844800" cy="68580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9" name="Rectangle 8"/>
          <p:cNvSpPr>
            <a:spLocks noChangeArrowheads="1"/>
          </p:cNvSpPr>
          <p:nvPr/>
        </p:nvSpPr>
        <p:spPr bwMode="white">
          <a:xfrm>
            <a:off x="0" y="0"/>
            <a:ext cx="12192000" cy="155448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0" name="Rectangle 9"/>
          <p:cNvSpPr>
            <a:spLocks noChangeArrowheads="1"/>
          </p:cNvSpPr>
          <p:nvPr/>
        </p:nvSpPr>
        <p:spPr bwMode="white">
          <a:xfrm>
            <a:off x="0" y="0"/>
            <a:ext cx="203200" cy="68580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1" name="Rectangle 10"/>
          <p:cNvSpPr>
            <a:spLocks noChangeArrowheads="1"/>
          </p:cNvSpPr>
          <p:nvPr/>
        </p:nvSpPr>
        <p:spPr bwMode="auto">
          <a:xfrm>
            <a:off x="195072" y="6391657"/>
            <a:ext cx="11777472" cy="309563"/>
          </a:xfrm>
          <a:prstGeom prst="rect">
            <a:avLst/>
          </a:prstGeom>
          <a:solidFill>
            <a:schemeClr val="accent3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2" name="Rectangle 11"/>
          <p:cNvSpPr>
            <a:spLocks noChangeArrowheads="1"/>
          </p:cNvSpPr>
          <p:nvPr/>
        </p:nvSpPr>
        <p:spPr bwMode="auto">
          <a:xfrm>
            <a:off x="203200" y="155448"/>
            <a:ext cx="11777472" cy="6547104"/>
          </a:xfrm>
          <a:prstGeom prst="rect">
            <a:avLst/>
          </a:prstGeom>
          <a:noFill/>
          <a:ln w="9525" cap="flat" cmpd="sng" algn="ctr">
            <a:solidFill>
              <a:schemeClr val="accent3">
                <a:shade val="75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 dirty="0"/>
          </a:p>
        </p:txBody>
      </p:sp>
      <p:sp>
        <p:nvSpPr>
          <p:cNvPr id="13" name="Straight Connector 12"/>
          <p:cNvSpPr>
            <a:spLocks noChangeShapeType="1"/>
          </p:cNvSpPr>
          <p:nvPr/>
        </p:nvSpPr>
        <p:spPr bwMode="auto">
          <a:xfrm rot="5400000">
            <a:off x="6403340" y="3278124"/>
            <a:ext cx="6245352" cy="0"/>
          </a:xfrm>
          <a:prstGeom prst="line">
            <a:avLst/>
          </a:prstGeom>
          <a:noFill/>
          <a:ln w="9525" cap="flat" cmpd="sng" algn="ctr">
            <a:solidFill>
              <a:schemeClr val="accent3">
                <a:shade val="75000"/>
              </a:schemeClr>
            </a:solidFill>
            <a:prstDash val="sysDash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4" name="Oval 13"/>
          <p:cNvSpPr/>
          <p:nvPr/>
        </p:nvSpPr>
        <p:spPr>
          <a:xfrm>
            <a:off x="9119616" y="2925763"/>
            <a:ext cx="812800" cy="609600"/>
          </a:xfrm>
          <a:prstGeom prst="ellipse">
            <a:avLst/>
          </a:prstGeom>
          <a:solidFill>
            <a:srgbClr val="FFFFFF"/>
          </a:solidFill>
          <a:ln w="15875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5" name="Oval 14"/>
          <p:cNvSpPr/>
          <p:nvPr/>
        </p:nvSpPr>
        <p:spPr>
          <a:xfrm>
            <a:off x="9245600" y="3020251"/>
            <a:ext cx="560832" cy="420624"/>
          </a:xfrm>
          <a:prstGeom prst="ellipse">
            <a:avLst/>
          </a:prstGeom>
          <a:solidFill>
            <a:srgbClr val="FFFFFF"/>
          </a:solidFill>
          <a:ln w="50800" cap="rnd" cmpd="dbl" algn="ctr">
            <a:solidFill>
              <a:schemeClr val="accent3">
                <a:shade val="75000"/>
              </a:schemeClr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221216" y="3009902"/>
            <a:ext cx="609600" cy="4413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06400" y="304800"/>
            <a:ext cx="8737600" cy="5821366"/>
          </a:xfrm>
        </p:spPr>
        <p:txBody>
          <a:bodyPr vert="eaVert"/>
          <a:lstStyle/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855200" y="304802"/>
            <a:ext cx="1930400" cy="5851525"/>
          </a:xfrm>
        </p:spPr>
        <p:txBody>
          <a:bodyPr vert="eaVert"/>
          <a:lstStyle/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/>
          <p:cNvSpPr>
            <a:spLocks noChangeArrowheads="1"/>
          </p:cNvSpPr>
          <p:nvPr/>
        </p:nvSpPr>
        <p:spPr bwMode="white">
          <a:xfrm>
            <a:off x="0" y="6705600"/>
            <a:ext cx="12192000" cy="1524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6" name="Rectangle 15"/>
          <p:cNvSpPr>
            <a:spLocks noChangeArrowheads="1"/>
          </p:cNvSpPr>
          <p:nvPr/>
        </p:nvSpPr>
        <p:spPr bwMode="white">
          <a:xfrm>
            <a:off x="0" y="1"/>
            <a:ext cx="12192000" cy="1393371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8" name="Rectangle 17"/>
          <p:cNvSpPr>
            <a:spLocks noChangeArrowheads="1"/>
          </p:cNvSpPr>
          <p:nvPr/>
        </p:nvSpPr>
        <p:spPr bwMode="white">
          <a:xfrm>
            <a:off x="0" y="0"/>
            <a:ext cx="203200" cy="68580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9" name="Rectangle 18"/>
          <p:cNvSpPr>
            <a:spLocks noChangeArrowheads="1"/>
          </p:cNvSpPr>
          <p:nvPr/>
        </p:nvSpPr>
        <p:spPr bwMode="white">
          <a:xfrm>
            <a:off x="11988800" y="0"/>
            <a:ext cx="203200" cy="68580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199136" y="6388386"/>
            <a:ext cx="11777472" cy="309563"/>
          </a:xfrm>
          <a:prstGeom prst="rect">
            <a:avLst/>
          </a:prstGeom>
          <a:solidFill>
            <a:schemeClr val="accent3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4" name="Date Placeholder 13"/>
          <p:cNvSpPr>
            <a:spLocks noGrp="1"/>
          </p:cNvSpPr>
          <p:nvPr>
            <p:ph type="dt" sz="half" idx="2"/>
          </p:nvPr>
        </p:nvSpPr>
        <p:spPr>
          <a:xfrm>
            <a:off x="7721600" y="6404984"/>
            <a:ext cx="4059936" cy="365760"/>
          </a:xfrm>
          <a:prstGeom prst="rect">
            <a:avLst/>
          </a:prstGeom>
        </p:spPr>
        <p:txBody>
          <a:bodyPr vert="horz"/>
          <a:lstStyle>
            <a:lvl1pPr algn="r" eaLnBrk="1" latinLnBrk="0" hangingPunct="1">
              <a:defRPr kumimoji="0" sz="1400">
                <a:solidFill>
                  <a:srgbClr val="FFFFFF"/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3"/>
          </p:nvPr>
        </p:nvSpPr>
        <p:spPr>
          <a:xfrm>
            <a:off x="406400" y="6410848"/>
            <a:ext cx="4775200" cy="365760"/>
          </a:xfrm>
          <a:prstGeom prst="rect">
            <a:avLst/>
          </a:prstGeom>
        </p:spPr>
        <p:txBody>
          <a:bodyPr vert="horz"/>
          <a:lstStyle>
            <a:lvl1pPr algn="l" eaLnBrk="1" latinLnBrk="0" hangingPunct="1">
              <a:defRPr kumimoji="0" sz="1200"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8" name="Rectangle 7"/>
          <p:cNvSpPr>
            <a:spLocks noChangeArrowheads="1"/>
          </p:cNvSpPr>
          <p:nvPr/>
        </p:nvSpPr>
        <p:spPr bwMode="auto">
          <a:xfrm>
            <a:off x="203200" y="155448"/>
            <a:ext cx="11777472" cy="6547104"/>
          </a:xfrm>
          <a:prstGeom prst="rect">
            <a:avLst/>
          </a:prstGeom>
          <a:noFill/>
          <a:ln w="9525" cap="flat" cmpd="sng" algn="ctr">
            <a:solidFill>
              <a:schemeClr val="accent3">
                <a:shade val="75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 dirty="0"/>
          </a:p>
        </p:txBody>
      </p:sp>
      <p:sp>
        <p:nvSpPr>
          <p:cNvPr id="10" name="Straight Connector 9"/>
          <p:cNvSpPr>
            <a:spLocks noChangeShapeType="1"/>
          </p:cNvSpPr>
          <p:nvPr/>
        </p:nvSpPr>
        <p:spPr bwMode="auto">
          <a:xfrm>
            <a:off x="203200" y="1276743"/>
            <a:ext cx="11777472" cy="0"/>
          </a:xfrm>
          <a:prstGeom prst="line">
            <a:avLst/>
          </a:prstGeom>
          <a:noFill/>
          <a:ln w="9525" cap="flat" cmpd="sng" algn="ctr">
            <a:solidFill>
              <a:schemeClr val="accent3">
                <a:shade val="75000"/>
              </a:schemeClr>
            </a:solidFill>
            <a:prstDash val="sysDash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2" name="Oval 11"/>
          <p:cNvSpPr/>
          <p:nvPr/>
        </p:nvSpPr>
        <p:spPr>
          <a:xfrm>
            <a:off x="5689600" y="956036"/>
            <a:ext cx="812800" cy="609600"/>
          </a:xfrm>
          <a:prstGeom prst="ellipse">
            <a:avLst/>
          </a:prstGeom>
          <a:solidFill>
            <a:srgbClr val="FFFFFF"/>
          </a:solidFill>
          <a:ln w="15875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5" name="Oval 14"/>
          <p:cNvSpPr/>
          <p:nvPr/>
        </p:nvSpPr>
        <p:spPr>
          <a:xfrm>
            <a:off x="5815584" y="1050524"/>
            <a:ext cx="560832" cy="420624"/>
          </a:xfrm>
          <a:prstGeom prst="ellipse">
            <a:avLst/>
          </a:prstGeom>
          <a:solidFill>
            <a:srgbClr val="FFFFFF"/>
          </a:solidFill>
          <a:ln w="50800" cap="rnd" cmpd="dbl" algn="ctr">
            <a:solidFill>
              <a:schemeClr val="accent3">
                <a:shade val="75000"/>
              </a:schemeClr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23" name="Slide Number Placeholder 22"/>
          <p:cNvSpPr>
            <a:spLocks noGrp="1"/>
          </p:cNvSpPr>
          <p:nvPr>
            <p:ph type="sldNum" sz="quarter" idx="4"/>
          </p:nvPr>
        </p:nvSpPr>
        <p:spPr>
          <a:xfrm>
            <a:off x="5791200" y="1040175"/>
            <a:ext cx="609600" cy="441325"/>
          </a:xfrm>
          <a:prstGeom prst="rect">
            <a:avLst/>
          </a:prstGeom>
        </p:spPr>
        <p:txBody>
          <a:bodyPr vert="horz" lIns="45720" rIns="45720" anchor="ctr">
            <a:normAutofit/>
          </a:bodyPr>
          <a:lstStyle>
            <a:lvl1pPr algn="ctr" eaLnBrk="1" latinLnBrk="0" hangingPunct="1">
              <a:defRPr kumimoji="0" sz="1600">
                <a:solidFill>
                  <a:schemeClr val="accent3">
                    <a:shade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22" name="Title Placeholder 21"/>
          <p:cNvSpPr>
            <a:spLocks noGrp="1"/>
          </p:cNvSpPr>
          <p:nvPr>
            <p:ph type="title"/>
          </p:nvPr>
        </p:nvSpPr>
        <p:spPr>
          <a:xfrm>
            <a:off x="402336" y="228600"/>
            <a:ext cx="11379200" cy="758952"/>
          </a:xfrm>
          <a:prstGeom prst="rect">
            <a:avLst/>
          </a:prstGeom>
        </p:spPr>
        <p:txBody>
          <a:bodyPr vert="horz" anchor="b">
            <a:normAutofit/>
          </a:bodyPr>
          <a:lstStyle/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13" name="Text Placeholder 12"/>
          <p:cNvSpPr>
            <a:spLocks noGrp="1"/>
          </p:cNvSpPr>
          <p:nvPr>
            <p:ph type="body" idx="1"/>
          </p:nvPr>
        </p:nvSpPr>
        <p:spPr>
          <a:xfrm>
            <a:off x="402336" y="1524000"/>
            <a:ext cx="11379200" cy="4599432"/>
          </a:xfrm>
          <a:prstGeom prst="rect">
            <a:avLst/>
          </a:prstGeom>
        </p:spPr>
        <p:txBody>
          <a:bodyPr vert="horz">
            <a:normAutofit/>
          </a:bodyPr>
          <a:lstStyle/>
          <a:p>
            <a:pPr lvl="0" eaLnBrk="1" latinLnBrk="0" hangingPunct="1"/>
            <a:r>
              <a:rPr kumimoji="0" lang="en-US" smtClean="0"/>
              <a:t>Click to edit Master text styles</a:t>
            </a:r>
          </a:p>
          <a:p>
            <a:pPr lvl="1" eaLnBrk="1" latinLnBrk="0" hangingPunct="1"/>
            <a:r>
              <a:rPr kumimoji="0" lang="en-US" smtClean="0"/>
              <a:t>Second level</a:t>
            </a:r>
          </a:p>
          <a:p>
            <a:pPr lvl="2" eaLnBrk="1" latinLnBrk="0" hangingPunct="1"/>
            <a:r>
              <a:rPr kumimoji="0" lang="en-US" smtClean="0"/>
              <a:t>Third level</a:t>
            </a:r>
          </a:p>
          <a:p>
            <a:pPr lvl="3" eaLnBrk="1" latinLnBrk="0" hangingPunct="1"/>
            <a:r>
              <a:rPr kumimoji="0" lang="en-US" smtClean="0"/>
              <a:t>Fourth level</a:t>
            </a:r>
          </a:p>
          <a:p>
            <a:pPr lvl="4" eaLnBrk="1" latinLnBrk="0" hangingPunct="1"/>
            <a:r>
              <a:rPr kumimoji="0" lang="en-US" smtClean="0"/>
              <a:t>Fifth level</a:t>
            </a:r>
            <a:endParaRPr kumimoji="0"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ctr" rtl="0" eaLnBrk="1" latinLnBrk="0" hangingPunct="1">
        <a:spcBef>
          <a:spcPct val="0"/>
        </a:spcBef>
        <a:buNone/>
        <a:defRPr kumimoji="0" sz="3300" kern="1200">
          <a:solidFill>
            <a:schemeClr val="accent3">
              <a:shade val="75000"/>
            </a:schemeClr>
          </a:solidFill>
          <a:latin typeface="+mj-lt"/>
          <a:ea typeface="+mj-ea"/>
          <a:cs typeface="+mj-cs"/>
        </a:defRPr>
      </a:lvl1pPr>
    </p:titleStyle>
    <p:bodyStyle>
      <a:lvl1pPr marL="274320" indent="-274320" algn="l" rtl="0" eaLnBrk="1" latinLnBrk="0" hangingPunct="1">
        <a:spcBef>
          <a:spcPct val="20000"/>
        </a:spcBef>
        <a:buClr>
          <a:schemeClr val="accent1"/>
        </a:buClr>
        <a:buSzPct val="85000"/>
        <a:buFont typeface="Wingdings 2"/>
        <a:buChar char=""/>
        <a:defRPr kumimoji="0" sz="2700" kern="1200">
          <a:solidFill>
            <a:schemeClr val="tx1"/>
          </a:solidFill>
          <a:latin typeface="+mn-lt"/>
          <a:ea typeface="+mn-ea"/>
          <a:cs typeface="+mn-cs"/>
        </a:defRPr>
      </a:lvl1pPr>
      <a:lvl2pPr marL="548640" indent="-274320" algn="l" rtl="0" eaLnBrk="1" latinLnBrk="0" hangingPunct="1">
        <a:spcBef>
          <a:spcPct val="20000"/>
        </a:spcBef>
        <a:buClr>
          <a:schemeClr val="accent2"/>
        </a:buClr>
        <a:buSzPct val="70000"/>
        <a:buFont typeface="Wingdings"/>
        <a:buChar char=""/>
        <a:defRPr kumimoji="0" sz="2200" kern="1200">
          <a:solidFill>
            <a:schemeClr val="tx2"/>
          </a:solidFill>
          <a:latin typeface="+mn-lt"/>
          <a:ea typeface="+mn-ea"/>
          <a:cs typeface="+mn-cs"/>
        </a:defRPr>
      </a:lvl2pPr>
      <a:lvl3pPr marL="822960" indent="-228600" algn="l" rtl="0" eaLnBrk="1" latinLnBrk="0" hangingPunct="1">
        <a:spcBef>
          <a:spcPct val="20000"/>
        </a:spcBef>
        <a:buClr>
          <a:schemeClr val="accent3"/>
        </a:buClr>
        <a:buSzPct val="75000"/>
        <a:buFont typeface="Wingdings 2"/>
        <a:buChar char="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097280" indent="-228600" algn="l" rtl="0" eaLnBrk="1" latinLnBrk="0" hangingPunct="1">
        <a:spcBef>
          <a:spcPct val="20000"/>
        </a:spcBef>
        <a:buClr>
          <a:schemeClr val="accent4"/>
        </a:buClr>
        <a:buSzPct val="70000"/>
        <a:buFont typeface="Wingdings"/>
        <a:buChar char=""/>
        <a:defRPr kumimoji="0" sz="2000" kern="1200">
          <a:solidFill>
            <a:schemeClr val="tx2"/>
          </a:solidFill>
          <a:latin typeface="+mn-lt"/>
          <a:ea typeface="+mn-ea"/>
          <a:cs typeface="+mn-cs"/>
        </a:defRPr>
      </a:lvl4pPr>
      <a:lvl5pPr marL="1371600" indent="-228600" algn="l" rtl="0" eaLnBrk="1" latinLnBrk="0" hangingPunct="1">
        <a:spcBef>
          <a:spcPct val="20000"/>
        </a:spcBef>
        <a:buClr>
          <a:schemeClr val="accent5"/>
        </a:buClr>
        <a:buFontTx/>
        <a:buChar char="•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1645920" indent="-182880" algn="l" rtl="0" eaLnBrk="1" latinLnBrk="0" hangingPunct="1">
        <a:spcBef>
          <a:spcPct val="20000"/>
        </a:spcBef>
        <a:buClr>
          <a:schemeClr val="accent6"/>
        </a:buClr>
        <a:buSzPct val="80000"/>
        <a:buFont typeface="Wingdings 2"/>
        <a:buChar char="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1920240" indent="-182880" algn="l" rtl="0" eaLnBrk="1" latinLnBrk="0" hangingPunct="1">
        <a:spcBef>
          <a:spcPct val="20000"/>
        </a:spcBef>
        <a:buClr>
          <a:schemeClr val="accent1">
            <a:shade val="75000"/>
          </a:schemeClr>
        </a:buClr>
        <a:buSzPct val="90000"/>
        <a:buChar char="•"/>
        <a:defRPr kumimoji="0" sz="1600" kern="1200" baseline="0">
          <a:solidFill>
            <a:schemeClr val="tx1"/>
          </a:solidFill>
          <a:latin typeface="+mn-lt"/>
          <a:ea typeface="+mn-ea"/>
          <a:cs typeface="+mn-cs"/>
        </a:defRPr>
      </a:lvl7pPr>
      <a:lvl8pPr marL="2103120" indent="-182880" algn="l" rtl="0" eaLnBrk="1" latinLnBrk="0" hangingPunct="1">
        <a:spcBef>
          <a:spcPct val="20000"/>
        </a:spcBef>
        <a:buClr>
          <a:schemeClr val="accent4">
            <a:shade val="75000"/>
          </a:schemeClr>
        </a:buClr>
        <a:buChar char="•"/>
        <a:defRPr kumimoji="0"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2377440" indent="-182880" algn="l" rtl="0" eaLnBrk="1" latinLnBrk="0" hangingPunct="1">
        <a:spcBef>
          <a:spcPct val="20000"/>
        </a:spcBef>
        <a:buClr>
          <a:schemeClr val="accent2">
            <a:shade val="75000"/>
          </a:schemeClr>
        </a:buClr>
        <a:buSzPct val="90000"/>
        <a:buChar char="•"/>
        <a:defRPr kumimoji="0" sz="1400" kern="1200" cap="all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2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685800" y="1051560"/>
            <a:ext cx="8778240" cy="11079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dirty="0">
                <a:solidFill>
                  <a:schemeClr val="bg1"/>
                </a:solidFill>
                <a:latin typeface="Aptos"/>
              </a:rPr>
              <a:t>A Reliability-Aware Machine Learning</a:t>
            </a:r>
            <a:r>
              <a:rPr dirty="0">
                <a:solidFill>
                  <a:schemeClr val="bg1"/>
                </a:solidFill>
              </a:rPr>
              <a:t/>
            </a:r>
            <a:br>
              <a:rPr dirty="0">
                <a:solidFill>
                  <a:schemeClr val="bg1"/>
                </a:solidFill>
              </a:rPr>
            </a:br>
            <a:r>
              <a:rPr dirty="0">
                <a:solidFill>
                  <a:schemeClr val="bg1"/>
                </a:solidFill>
              </a:rPr>
              <a:t>Framework for Sentiment Classification</a:t>
            </a:r>
            <a:br>
              <a:rPr dirty="0">
                <a:solidFill>
                  <a:schemeClr val="bg1"/>
                </a:solidFill>
              </a:rPr>
            </a:br>
            <a:r>
              <a:rPr dirty="0">
                <a:solidFill>
                  <a:schemeClr val="bg1"/>
                </a:solidFill>
              </a:rPr>
              <a:t>of Social Media Posts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3246120"/>
            <a:ext cx="8046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36D3CB"/>
                </a:solidFill>
                <a:latin typeface="Aptos"/>
              </a:rPr>
              <a:t>RASCA — Reliability-Aware Sentiment Classification and Analysis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5074920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8FAFC"/>
                </a:solidFill>
                <a:latin typeface="Aptos"/>
              </a:rPr>
              <a:t>Jatin  |  GH1035214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5440680"/>
            <a:ext cx="5943600" cy="54630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 dirty="0">
                <a:solidFill>
                  <a:schemeClr val="bg1"/>
                </a:solidFill>
                <a:latin typeface="Aptos"/>
              </a:rPr>
              <a:t>MSc Data Science, AI and Digital Business</a:t>
            </a:r>
            <a:r>
              <a:rPr dirty="0">
                <a:solidFill>
                  <a:schemeClr val="bg1"/>
                </a:solidFill>
              </a:rPr>
              <a:t/>
            </a:r>
            <a:br>
              <a:rPr dirty="0">
                <a:solidFill>
                  <a:schemeClr val="bg1"/>
                </a:solidFill>
              </a:rPr>
            </a:br>
            <a:r>
              <a:rPr dirty="0">
                <a:solidFill>
                  <a:schemeClr val="bg1"/>
                </a:solidFill>
              </a:rPr>
              <a:t>GISMA University of Applied Sciences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2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84048"/>
            <a:ext cx="10972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8FAFC"/>
                </a:solidFill>
                <a:latin typeface="Aptos"/>
              </a:rPr>
              <a:t>Background &amp; Motivation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896112"/>
            <a:ext cx="1069848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 dirty="0">
                <a:solidFill>
                  <a:srgbClr val="A7B4CD"/>
                </a:solidFill>
                <a:latin typeface="Aptos"/>
              </a:rPr>
              <a:t>Why accuracy alone is not enough for automated sentiment decisions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7" y="1581912"/>
            <a:ext cx="3063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F8FAFC"/>
                </a:solidFill>
                <a:latin typeface="Aptos"/>
              </a:rPr>
              <a:t>The opportunity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7" y="1984248"/>
            <a:ext cx="3063240" cy="106182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A7B4CD"/>
                </a:solidFill>
                <a:latin typeface="Aptos"/>
              </a:rPr>
              <a:t>Social media creates large amounts of opinion pieces that are suitable for automated analysis.</a:t>
            </a:r>
            <a:endParaRPr sz="1400" b="0" dirty="0">
              <a:solidFill>
                <a:srgbClr val="A7B4CD"/>
              </a:solidFill>
              <a:latin typeface="Apto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4572000" y="1581912"/>
            <a:ext cx="3063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F8FAFC"/>
                </a:solidFill>
                <a:latin typeface="Aptos"/>
              </a:rPr>
              <a:t>The reliability problem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1984248"/>
            <a:ext cx="3063240" cy="118871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lang="en-US" sz="1400" dirty="0">
                <a:solidFill>
                  <a:srgbClr val="A7B4CD"/>
                </a:solidFill>
                <a:latin typeface="Aptos"/>
              </a:rPr>
              <a:t>The classifier may have perfect performance metrics for the whole classification problem but poor confidence scores for individual predictions.</a:t>
            </a:r>
            <a:endParaRPr sz="1400" b="0" dirty="0">
              <a:solidFill>
                <a:srgbClr val="A7B4CD"/>
              </a:solidFill>
              <a:latin typeface="Aptos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8302752" y="1581912"/>
            <a:ext cx="3063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F8FAFC"/>
                </a:solidFill>
                <a:latin typeface="Aptos"/>
              </a:rPr>
              <a:t>The research need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02752" y="1984248"/>
            <a:ext cx="3063240" cy="106182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A7B4CD"/>
                </a:solidFill>
                <a:latin typeface="Aptos"/>
              </a:rPr>
              <a:t>A good system will be able to identify which predictions can be automated and which cannot.</a:t>
            </a:r>
            <a:endParaRPr sz="1400" b="0" dirty="0">
              <a:solidFill>
                <a:srgbClr val="A7B4CD"/>
              </a:solidFill>
              <a:latin typeface="Aptos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868680" y="4160520"/>
            <a:ext cx="1920240" cy="868680"/>
          </a:xfrm>
          <a:prstGeom prst="roundRect">
            <a:avLst/>
          </a:prstGeom>
          <a:solidFill>
            <a:srgbClr val="121C37"/>
          </a:solidFill>
          <a:ln>
            <a:solidFill>
              <a:srgbClr val="3F7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68680" y="4370832"/>
            <a:ext cx="1920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F8FAFC"/>
                </a:solidFill>
                <a:latin typeface="Aptos"/>
              </a:rPr>
              <a:t>Prediction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62072" y="434340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>
                <a:solidFill>
                  <a:srgbClr val="A7B4CD"/>
                </a:solidFill>
                <a:latin typeface="Aptos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11880" y="4160520"/>
            <a:ext cx="1920240" cy="868680"/>
          </a:xfrm>
          <a:prstGeom prst="roundRect">
            <a:avLst/>
          </a:prstGeom>
          <a:solidFill>
            <a:srgbClr val="121C37"/>
          </a:solidFill>
          <a:ln>
            <a:solidFill>
              <a:srgbClr val="895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3611880" y="4370832"/>
            <a:ext cx="1920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F8FAFC"/>
                </a:solidFill>
                <a:latin typeface="Aptos"/>
              </a:rPr>
              <a:t>Confidence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05272" y="434340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>
                <a:solidFill>
                  <a:srgbClr val="A7B4CD"/>
                </a:solidFill>
                <a:latin typeface="Aptos"/>
              </a:rP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55080" y="4160520"/>
            <a:ext cx="1920240" cy="868680"/>
          </a:xfrm>
          <a:prstGeom prst="roundRect">
            <a:avLst/>
          </a:prstGeom>
          <a:solidFill>
            <a:srgbClr val="121C37"/>
          </a:solidFill>
          <a:ln>
            <a:solidFill>
              <a:srgbClr val="36D3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355080" y="4370832"/>
            <a:ext cx="1920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F8FAFC"/>
                </a:solidFill>
                <a:latin typeface="Aptos"/>
              </a:rPr>
              <a:t>Reliability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48472" y="434340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>
                <a:solidFill>
                  <a:srgbClr val="A7B4CD"/>
                </a:solidFill>
                <a:latin typeface="Aptos"/>
              </a:rPr>
              <a:t>→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98280" y="4160520"/>
            <a:ext cx="1920240" cy="868680"/>
          </a:xfrm>
          <a:prstGeom prst="roundRect">
            <a:avLst/>
          </a:prstGeom>
          <a:solidFill>
            <a:srgbClr val="121C37"/>
          </a:solidFill>
          <a:ln>
            <a:solidFill>
              <a:srgbClr val="37D2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9098280" y="4370832"/>
            <a:ext cx="1920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F8FAFC"/>
                </a:solidFill>
                <a:latin typeface="Aptos"/>
              </a:rPr>
              <a:t>Decision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1792" y="6510528"/>
            <a:ext cx="109728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>
                <a:solidFill>
                  <a:srgbClr val="A7B4CD"/>
                </a:solidFill>
                <a:latin typeface="Aptos"/>
              </a:rPr>
              <a:t>RASCA • CDS Dissertation Presentation   |  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2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84048"/>
            <a:ext cx="10972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8FAFC"/>
                </a:solidFill>
                <a:latin typeface="Aptos"/>
              </a:rPr>
              <a:t>Aim, Objectives &amp; Research Questions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25880"/>
            <a:ext cx="1097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36D3CB"/>
                </a:solidFill>
                <a:latin typeface="Aptos"/>
              </a:rPr>
              <a:t>Aim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64208"/>
            <a:ext cx="6400800" cy="140038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lang="en-US" sz="1700" dirty="0">
                <a:solidFill>
                  <a:srgbClr val="F8FAFC"/>
                </a:solidFill>
                <a:latin typeface="Aptos"/>
              </a:rPr>
              <a:t>Design and experimentally evaluate a reliability-sensitive approach to binary sentiment analysis using traditional machine learning techniques based on TF-IDF, confidence estimation, calibration, selective prediction, and error analysis on highly confident predictions.</a:t>
            </a:r>
            <a:endParaRPr sz="1700" b="0" dirty="0">
              <a:solidFill>
                <a:srgbClr val="F8FAFC"/>
              </a:solidFill>
              <a:latin typeface="Aptos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7360920" y="1325880"/>
            <a:ext cx="4160520" cy="2011680"/>
          </a:xfrm>
          <a:prstGeom prst="roundRect">
            <a:avLst/>
          </a:prstGeom>
          <a:solidFill>
            <a:srgbClr val="121C37"/>
          </a:solidFill>
          <a:ln w="10160">
            <a:solidFill>
              <a:srgbClr val="2D3C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562088" y="1490472"/>
            <a:ext cx="3794759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F8FAFC"/>
                </a:solidFill>
                <a:latin typeface="Aptos"/>
              </a:rPr>
              <a:t>Research contribution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62088" y="1892807"/>
            <a:ext cx="3794759" cy="7386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lang="en-US" sz="1400" dirty="0">
                <a:solidFill>
                  <a:srgbClr val="A7B4CD"/>
                </a:solidFill>
                <a:latin typeface="Aptos"/>
              </a:rPr>
              <a:t>RASCA does not employ an innovative classifier but unifies the various methods into one reliability-driven experiment setting.</a:t>
            </a:r>
            <a:endParaRPr sz="1400" b="0" dirty="0">
              <a:solidFill>
                <a:srgbClr val="A7B4CD"/>
              </a:solidFill>
              <a:latin typeface="Aptos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640080" y="3429000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36D3CB"/>
                </a:solidFill>
                <a:latin typeface="Aptos"/>
              </a:rPr>
              <a:t>Research questions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794760"/>
            <a:ext cx="10515600" cy="17876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350" b="0">
                <a:solidFill>
                  <a:srgbClr val="F8FAFC"/>
                </a:solidFill>
                <a:latin typeface="Aptos"/>
              </a:defRPr>
            </a:pPr>
            <a:r>
              <a:rPr lang="en-US" dirty="0"/>
              <a:t>Research Questions and Research Focuses:</a:t>
            </a:r>
          </a:p>
          <a:p>
            <a:pPr>
              <a:spcAft>
                <a:spcPts val="700"/>
              </a:spcAft>
              <a:defRPr sz="1350" b="0">
                <a:solidFill>
                  <a:srgbClr val="F8FAFC"/>
                </a:solidFill>
                <a:latin typeface="Aptos"/>
              </a:defRPr>
            </a:pPr>
            <a:r>
              <a:rPr lang="en-US" dirty="0" smtClean="0"/>
              <a:t>RQ1</a:t>
            </a:r>
            <a:r>
              <a:rPr lang="en-US" dirty="0"/>
              <a:t>: Performance of classification based on TF-IDF</a:t>
            </a:r>
          </a:p>
          <a:p>
            <a:pPr>
              <a:spcAft>
                <a:spcPts val="700"/>
              </a:spcAft>
              <a:defRPr sz="1350" b="0">
                <a:solidFill>
                  <a:srgbClr val="F8FAFC"/>
                </a:solidFill>
                <a:latin typeface="Aptos"/>
              </a:defRPr>
            </a:pPr>
            <a:r>
              <a:rPr lang="en-US" dirty="0"/>
              <a:t>RQ2: Model confidence and its correlation with correct predictions</a:t>
            </a:r>
          </a:p>
          <a:p>
            <a:pPr>
              <a:spcAft>
                <a:spcPts val="700"/>
              </a:spcAft>
              <a:defRPr sz="1350" b="0">
                <a:solidFill>
                  <a:srgbClr val="F8FAFC"/>
                </a:solidFill>
                <a:latin typeface="Aptos"/>
              </a:defRPr>
            </a:pPr>
            <a:r>
              <a:rPr lang="en-US" dirty="0"/>
              <a:t>RQ3: Effect of confidence calibration on performance</a:t>
            </a:r>
          </a:p>
          <a:p>
            <a:pPr>
              <a:spcAft>
                <a:spcPts val="700"/>
              </a:spcAft>
              <a:defRPr sz="1350" b="0">
                <a:solidFill>
                  <a:srgbClr val="F8FAFC"/>
                </a:solidFill>
                <a:latin typeface="Aptos"/>
              </a:defRPr>
            </a:pPr>
            <a:r>
              <a:rPr lang="en-US" dirty="0"/>
              <a:t>RQ4: Selective prediction and its usefulness</a:t>
            </a:r>
          </a:p>
          <a:p>
            <a:pPr>
              <a:spcAft>
                <a:spcPts val="700"/>
              </a:spcAft>
              <a:defRPr sz="1350" b="0">
                <a:solidFill>
                  <a:srgbClr val="F8FAFC"/>
                </a:solidFill>
                <a:latin typeface="Aptos"/>
              </a:defRPr>
            </a:pPr>
            <a:r>
              <a:rPr lang="en-US" dirty="0"/>
              <a:t>RQ5: Language features of highly confident errors</a:t>
            </a:r>
            <a:endParaRPr dirty="0"/>
          </a:p>
        </p:txBody>
      </p:sp>
      <p:sp>
        <p:nvSpPr>
          <p:cNvPr id="11" name="TextBox 10"/>
          <p:cNvSpPr txBox="1"/>
          <p:nvPr/>
        </p:nvSpPr>
        <p:spPr>
          <a:xfrm>
            <a:off x="621792" y="6510528"/>
            <a:ext cx="109728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>
                <a:solidFill>
                  <a:srgbClr val="A7B4CD"/>
                </a:solidFill>
                <a:latin typeface="Aptos"/>
              </a:rPr>
              <a:t>RASCA • CDS Dissertation Presentation   |  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2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84048"/>
            <a:ext cx="10972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8FAFC"/>
                </a:solidFill>
                <a:latin typeface="Aptos"/>
              </a:rPr>
              <a:t>Literature Review &amp; Research Gap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896112"/>
            <a:ext cx="1069848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A7B4CD"/>
                </a:solidFill>
                <a:latin typeface="Aptos"/>
              </a:rPr>
              <a:t>From predictive performance toward reliability-aware decisions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7" y="1536192"/>
            <a:ext cx="3063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F8FAFC"/>
                </a:solidFill>
                <a:latin typeface="Aptos"/>
              </a:rPr>
              <a:t>Traditional ML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7" y="1938528"/>
            <a:ext cx="3063240" cy="95410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lang="en-US" sz="1400" dirty="0">
                <a:solidFill>
                  <a:srgbClr val="A7B4CD"/>
                </a:solidFill>
                <a:latin typeface="Aptos"/>
              </a:rPr>
              <a:t>Logistic Regression, Naive Bayes, and Support Vector Machines remain equally relevant for sparse TF-IDF encoding of text.</a:t>
            </a:r>
            <a:endParaRPr sz="1400" b="0" dirty="0">
              <a:solidFill>
                <a:srgbClr val="A7B4CD"/>
              </a:solidFill>
              <a:latin typeface="Apto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4572000" y="1536192"/>
            <a:ext cx="3063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F8FAFC"/>
                </a:solidFill>
                <a:latin typeface="Aptos"/>
              </a:rPr>
              <a:t>Modern sentiment analysis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1938528"/>
            <a:ext cx="3063240" cy="95410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lang="en-US" sz="1400" dirty="0">
                <a:solidFill>
                  <a:srgbClr val="A7B4CD"/>
                </a:solidFill>
                <a:latin typeface="Aptos"/>
              </a:rPr>
              <a:t>Modern studies tend to utilize deep learning and transformers approach while the conventional models remain relevant as baselines.</a:t>
            </a:r>
            <a:endParaRPr sz="1400" b="0" dirty="0">
              <a:solidFill>
                <a:srgbClr val="A7B4CD"/>
              </a:solidFill>
              <a:latin typeface="Aptos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8302752" y="1536192"/>
            <a:ext cx="3063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F8FAFC"/>
                </a:solidFill>
                <a:latin typeface="Aptos"/>
              </a:rPr>
              <a:t>Reliability literature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02752" y="1938528"/>
            <a:ext cx="3063240" cy="95410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lang="en-US" sz="1400" dirty="0">
                <a:solidFill>
                  <a:srgbClr val="A7B4CD"/>
                </a:solidFill>
                <a:latin typeface="Aptos"/>
              </a:rPr>
              <a:t>Calibration and selective prediction test whether confidence levels support safe decisions made by machines.</a:t>
            </a:r>
            <a:endParaRPr sz="1400" b="0" dirty="0">
              <a:solidFill>
                <a:srgbClr val="A7B4CD"/>
              </a:solidFill>
              <a:latin typeface="Aptos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640080" y="3703320"/>
            <a:ext cx="1828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36D3CB"/>
                </a:solidFill>
                <a:latin typeface="Aptos"/>
              </a:rPr>
              <a:t>Research gap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096512"/>
            <a:ext cx="10881360" cy="92333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lang="en-US" b="1" dirty="0">
                <a:solidFill>
                  <a:srgbClr val="F8FAFC"/>
                </a:solidFill>
                <a:latin typeface="Aptos"/>
              </a:rPr>
              <a:t>This dissertation focuses on the limited incorporation of classification accuracy, confidence assessment, selective predictions, and high confidence errors into a light-weight TF-IDF-based sentiment analysis system.</a:t>
            </a:r>
            <a:endParaRPr sz="1800" b="1" dirty="0">
              <a:solidFill>
                <a:srgbClr val="F8FAFC"/>
              </a:solidFill>
              <a:latin typeface="Aptos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658368" y="553212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dirty="0">
                <a:solidFill>
                  <a:srgbClr val="A7B4CD"/>
                </a:solidFill>
                <a:latin typeface="Aptos"/>
              </a:rPr>
              <a:t>Key sources include Shin et al. (2025), </a:t>
            </a:r>
            <a:r>
              <a:rPr sz="1050" b="0" dirty="0" err="1">
                <a:solidFill>
                  <a:srgbClr val="A7B4CD"/>
                </a:solidFill>
                <a:latin typeface="Aptos"/>
              </a:rPr>
              <a:t>Albadarneh</a:t>
            </a:r>
            <a:r>
              <a:rPr sz="1050" b="0" dirty="0">
                <a:solidFill>
                  <a:srgbClr val="A7B4CD"/>
                </a:solidFill>
                <a:latin typeface="Aptos"/>
              </a:rPr>
              <a:t> et al. (2025), Dong et al. (2025), </a:t>
            </a:r>
            <a:r>
              <a:rPr sz="1050" b="0" dirty="0" err="1">
                <a:solidFill>
                  <a:srgbClr val="A7B4CD"/>
                </a:solidFill>
                <a:latin typeface="Aptos"/>
              </a:rPr>
              <a:t>Dabah</a:t>
            </a:r>
            <a:r>
              <a:rPr sz="1050" b="0" dirty="0">
                <a:solidFill>
                  <a:srgbClr val="A7B4CD"/>
                </a:solidFill>
                <a:latin typeface="Aptos"/>
              </a:rPr>
              <a:t> &amp; </a:t>
            </a:r>
            <a:r>
              <a:rPr sz="1050" b="0" dirty="0" err="1">
                <a:solidFill>
                  <a:srgbClr val="A7B4CD"/>
                </a:solidFill>
                <a:latin typeface="Aptos"/>
              </a:rPr>
              <a:t>Tirer</a:t>
            </a:r>
            <a:r>
              <a:rPr sz="1050" b="0" dirty="0">
                <a:solidFill>
                  <a:srgbClr val="A7B4CD"/>
                </a:solidFill>
                <a:latin typeface="Aptos"/>
              </a:rPr>
              <a:t> (2025) and </a:t>
            </a:r>
            <a:r>
              <a:rPr sz="1050" b="0" dirty="0" err="1">
                <a:solidFill>
                  <a:srgbClr val="A7B4CD"/>
                </a:solidFill>
                <a:latin typeface="Aptos"/>
              </a:rPr>
              <a:t>Anggraini</a:t>
            </a:r>
            <a:r>
              <a:rPr sz="1050" b="0" dirty="0">
                <a:solidFill>
                  <a:srgbClr val="A7B4CD"/>
                </a:solidFill>
                <a:latin typeface="Aptos"/>
              </a:rPr>
              <a:t> et al. (2026).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" y="6510528"/>
            <a:ext cx="109728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>
                <a:solidFill>
                  <a:srgbClr val="A7B4CD"/>
                </a:solidFill>
                <a:latin typeface="Aptos"/>
              </a:rPr>
              <a:t>RASCA • CDS Dissertation Presentation   |  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2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84048"/>
            <a:ext cx="10972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8FAFC"/>
                </a:solidFill>
                <a:latin typeface="Aptos"/>
              </a:rPr>
              <a:t>Dataset — Sentiment140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896112"/>
            <a:ext cx="1069848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A7B4CD"/>
                </a:solidFill>
                <a:latin typeface="Aptos"/>
              </a:rPr>
              <a:t>Large-scale binary sentiment classification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1" y="1517904"/>
            <a:ext cx="19659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A7B4CD"/>
                </a:solidFill>
                <a:latin typeface="Aptos"/>
              </a:rPr>
              <a:t>Original records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1" y="1810512"/>
            <a:ext cx="1965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3F7DFF"/>
                </a:solidFill>
                <a:latin typeface="Aptos"/>
              </a:rPr>
              <a:t>1,600,000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27832" y="1517904"/>
            <a:ext cx="19659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A7B4CD"/>
                </a:solidFill>
                <a:latin typeface="Aptos"/>
              </a:rPr>
              <a:t>Final records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27832" y="1810512"/>
            <a:ext cx="1965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36D3CB"/>
                </a:solidFill>
                <a:latin typeface="Aptos"/>
              </a:rPr>
              <a:t>1,596,406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50992" y="1517904"/>
            <a:ext cx="19659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A7B4CD"/>
                </a:solidFill>
                <a:latin typeface="Aptos"/>
              </a:rPr>
              <a:t>Training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50992" y="1810512"/>
            <a:ext cx="1965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895CFF"/>
                </a:solidFill>
                <a:latin typeface="Aptos"/>
              </a:rPr>
              <a:t>1,277,124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74152" y="1517904"/>
            <a:ext cx="19659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A7B4CD"/>
                </a:solidFill>
                <a:latin typeface="Aptos"/>
              </a:rPr>
              <a:t>Testing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74152" y="1810512"/>
            <a:ext cx="1965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37D28C"/>
                </a:solidFill>
                <a:latin typeface="Aptos"/>
              </a:rPr>
              <a:t>319,282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7" y="3044952"/>
            <a:ext cx="4709159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F8FAFC"/>
                </a:solidFill>
                <a:latin typeface="Aptos"/>
              </a:rPr>
              <a:t>Task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7" y="3447288"/>
            <a:ext cx="4709159" cy="143116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dirty="0">
                <a:solidFill>
                  <a:schemeClr val="bg1"/>
                </a:solidFill>
                <a:latin typeface="Aptos"/>
              </a:rPr>
              <a:t>Binary sentiment classification</a:t>
            </a:r>
            <a:r>
              <a:rPr dirty="0">
                <a:solidFill>
                  <a:schemeClr val="bg1"/>
                </a:solidFill>
              </a:rPr>
              <a:t/>
            </a:r>
            <a:br>
              <a:rPr dirty="0">
                <a:solidFill>
                  <a:schemeClr val="bg1"/>
                </a:solidFill>
              </a:rPr>
            </a:br>
            <a:r>
              <a:rPr dirty="0">
                <a:solidFill>
                  <a:schemeClr val="bg1"/>
                </a:solidFill>
              </a:rPr>
              <a:t>• Negative = 0</a:t>
            </a:r>
            <a:br>
              <a:rPr dirty="0">
                <a:solidFill>
                  <a:schemeClr val="bg1"/>
                </a:solidFill>
              </a:rPr>
            </a:br>
            <a:r>
              <a:rPr dirty="0">
                <a:solidFill>
                  <a:schemeClr val="bg1"/>
                </a:solidFill>
              </a:rPr>
              <a:t>• Positive = 1</a:t>
            </a:r>
            <a:br>
              <a:rPr dirty="0">
                <a:solidFill>
                  <a:schemeClr val="bg1"/>
                </a:solidFill>
              </a:rPr>
            </a:br>
            <a:r>
              <a:rPr dirty="0">
                <a:solidFill>
                  <a:schemeClr val="bg1"/>
                </a:solidFill>
              </a:rPr>
              <a:t>• Neutral class excluded</a:t>
            </a:r>
            <a:br>
              <a:rPr dirty="0">
                <a:solidFill>
                  <a:schemeClr val="bg1"/>
                </a:solidFill>
              </a:rPr>
            </a:br>
            <a:r>
              <a:rPr dirty="0">
                <a:solidFill>
                  <a:schemeClr val="bg1"/>
                </a:solidFill>
              </a:rPr>
              <a:t>• 80/20 stratified split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90488" y="3044952"/>
            <a:ext cx="5074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F8FAFC"/>
                </a:solidFill>
                <a:latin typeface="Aptos"/>
              </a:rPr>
              <a:t>Text representation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90488" y="3447288"/>
            <a:ext cx="5074920" cy="13388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dirty="0">
                <a:solidFill>
                  <a:schemeClr val="bg1"/>
                </a:solidFill>
                <a:latin typeface="Aptos"/>
              </a:rPr>
              <a:t>TF-IDF</a:t>
            </a:r>
            <a:r>
              <a:rPr sz="1400" dirty="0">
                <a:solidFill>
                  <a:schemeClr val="bg1"/>
                </a:solidFill>
              </a:rPr>
              <a:t/>
            </a:r>
            <a:br>
              <a:rPr sz="1400" dirty="0">
                <a:solidFill>
                  <a:schemeClr val="bg1"/>
                </a:solidFill>
              </a:rPr>
            </a:br>
            <a:r>
              <a:rPr sz="1400" dirty="0">
                <a:solidFill>
                  <a:schemeClr val="bg1"/>
                </a:solidFill>
              </a:rPr>
              <a:t>• 1–2 grams</a:t>
            </a:r>
            <a:br>
              <a:rPr sz="1400" dirty="0">
                <a:solidFill>
                  <a:schemeClr val="bg1"/>
                </a:solidFill>
              </a:rPr>
            </a:br>
            <a:r>
              <a:rPr sz="1400" dirty="0">
                <a:solidFill>
                  <a:schemeClr val="bg1"/>
                </a:solidFill>
              </a:rPr>
              <a:t>• </a:t>
            </a:r>
            <a:r>
              <a:rPr sz="1400" dirty="0" err="1">
                <a:solidFill>
                  <a:schemeClr val="bg1"/>
                </a:solidFill>
              </a:rPr>
              <a:t>min_df</a:t>
            </a:r>
            <a:r>
              <a:rPr sz="1400" dirty="0">
                <a:solidFill>
                  <a:schemeClr val="bg1"/>
                </a:solidFill>
              </a:rPr>
              <a:t> = 5</a:t>
            </a:r>
            <a:br>
              <a:rPr sz="1400" dirty="0">
                <a:solidFill>
                  <a:schemeClr val="bg1"/>
                </a:solidFill>
              </a:rPr>
            </a:br>
            <a:r>
              <a:rPr sz="1400" dirty="0">
                <a:solidFill>
                  <a:schemeClr val="bg1"/>
                </a:solidFill>
              </a:rPr>
              <a:t>• </a:t>
            </a:r>
            <a:r>
              <a:rPr sz="1400" dirty="0" err="1">
                <a:solidFill>
                  <a:schemeClr val="bg1"/>
                </a:solidFill>
              </a:rPr>
              <a:t>max_df</a:t>
            </a:r>
            <a:r>
              <a:rPr sz="1400" dirty="0">
                <a:solidFill>
                  <a:schemeClr val="bg1"/>
                </a:solidFill>
              </a:rPr>
              <a:t> = 0.95</a:t>
            </a:r>
            <a:br>
              <a:rPr sz="1400" dirty="0">
                <a:solidFill>
                  <a:schemeClr val="bg1"/>
                </a:solidFill>
              </a:rPr>
            </a:br>
            <a:r>
              <a:rPr sz="1400" dirty="0">
                <a:solidFill>
                  <a:schemeClr val="bg1"/>
                </a:solidFill>
              </a:rPr>
              <a:t>• </a:t>
            </a:r>
            <a:r>
              <a:rPr sz="1400" dirty="0" err="1">
                <a:solidFill>
                  <a:schemeClr val="bg1"/>
                </a:solidFill>
              </a:rPr>
              <a:t>sublinear</a:t>
            </a:r>
            <a:r>
              <a:rPr sz="1400" dirty="0">
                <a:solidFill>
                  <a:schemeClr val="bg1"/>
                </a:solidFill>
              </a:rPr>
              <a:t> TF = True</a:t>
            </a:r>
            <a:br>
              <a:rPr sz="1400" dirty="0">
                <a:solidFill>
                  <a:schemeClr val="bg1"/>
                </a:solidFill>
              </a:rPr>
            </a:br>
            <a:r>
              <a:rPr sz="1400" dirty="0">
                <a:solidFill>
                  <a:schemeClr val="bg1"/>
                </a:solidFill>
              </a:rPr>
              <a:t>• maximum 300,000 features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557784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36D3CB"/>
                </a:solidFill>
                <a:latin typeface="Aptos"/>
              </a:rPr>
              <a:t>Random state: 42  •  Five-fold StratifiedKFold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1792" y="6510528"/>
            <a:ext cx="109728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>
                <a:solidFill>
                  <a:srgbClr val="A7B4CD"/>
                </a:solidFill>
                <a:latin typeface="Aptos"/>
              </a:rPr>
              <a:t>RASCA • CDS Dissertation Presentation   |  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2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84048"/>
            <a:ext cx="10972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8FAFC"/>
                </a:solidFill>
                <a:latin typeface="Aptos"/>
              </a:rPr>
              <a:t>Research Methodology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527048"/>
            <a:ext cx="320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3F7DFF"/>
                </a:solidFill>
                <a:latin typeface="Aptos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508760"/>
            <a:ext cx="1783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8FAFC"/>
                </a:solidFill>
                <a:latin typeface="Aptos"/>
              </a:rPr>
              <a:t>Prepare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" y="1920240"/>
            <a:ext cx="2103120" cy="41549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lang="en-US" sz="1050" dirty="0">
                <a:solidFill>
                  <a:srgbClr val="A7B4CD"/>
                </a:solidFill>
                <a:latin typeface="Aptos"/>
              </a:rPr>
              <a:t>Process and validate social media data.</a:t>
            </a:r>
            <a:endParaRPr sz="1050" b="0" dirty="0">
              <a:solidFill>
                <a:srgbClr val="A7B4CD"/>
              </a:solidFill>
              <a:latin typeface="Aptos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566160" y="1527048"/>
            <a:ext cx="320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895CFF"/>
                </a:solidFill>
                <a:latin typeface="Aptos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1508760"/>
            <a:ext cx="1783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8FAFC"/>
                </a:solidFill>
                <a:latin typeface="Aptos"/>
              </a:rPr>
              <a:t>Represent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93592" y="1920240"/>
            <a:ext cx="210312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dirty="0">
                <a:solidFill>
                  <a:srgbClr val="A7B4CD"/>
                </a:solidFill>
                <a:latin typeface="Aptos"/>
              </a:rPr>
              <a:t>TF-IDF 1–2 gram features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1527048"/>
            <a:ext cx="320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36D3CB"/>
                </a:solidFill>
                <a:latin typeface="Aptos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0" y="1508760"/>
            <a:ext cx="1783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8FAFC"/>
                </a:solidFill>
                <a:latin typeface="Aptos"/>
              </a:rPr>
              <a:t>Classify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28232" y="1920240"/>
            <a:ext cx="210312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A7B4CD"/>
                </a:solidFill>
                <a:latin typeface="Aptos"/>
              </a:rPr>
              <a:t>LR • MNB • Linear SVM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35440" y="1527048"/>
            <a:ext cx="320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37D28C"/>
                </a:solidFill>
                <a:latin typeface="Aptos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0" y="1508760"/>
            <a:ext cx="1783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8FAFC"/>
                </a:solidFill>
                <a:latin typeface="Aptos"/>
              </a:rPr>
              <a:t>Evaluate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61092" y="1920240"/>
            <a:ext cx="2406068" cy="2539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dirty="0">
                <a:solidFill>
                  <a:srgbClr val="A7B4CD"/>
                </a:solidFill>
                <a:latin typeface="Aptos"/>
              </a:rPr>
              <a:t>Accuracy • F1 • ROC-AUC • PR-AUC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48840" y="3584448"/>
            <a:ext cx="320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FA94C"/>
                </a:solidFill>
                <a:latin typeface="Aptos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14600" y="3566160"/>
            <a:ext cx="1783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8FAFC"/>
                </a:solidFill>
                <a:latin typeface="Aptos"/>
              </a:rPr>
              <a:t>Calibrate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76272" y="3977639"/>
            <a:ext cx="210312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A7B4CD"/>
                </a:solidFill>
                <a:latin typeface="Aptos"/>
              </a:rPr>
              <a:t>Sigmoid calibration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83480" y="3584448"/>
            <a:ext cx="320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3F7DFF"/>
                </a:solidFill>
                <a:latin typeface="Aptos"/>
              </a:rPr>
              <a:t>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49240" y="3566160"/>
            <a:ext cx="1783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8FAFC"/>
                </a:solidFill>
                <a:latin typeface="Aptos"/>
              </a:rPr>
              <a:t>Decide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10912" y="3977639"/>
            <a:ext cx="210312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A7B4CD"/>
                </a:solidFill>
                <a:latin typeface="Aptos"/>
              </a:rPr>
              <a:t>Accept / Review by confidence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18120" y="3584448"/>
            <a:ext cx="320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895CFF"/>
                </a:solidFill>
                <a:latin typeface="Aptos"/>
              </a:rPr>
              <a:t>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83880" y="3566160"/>
            <a:ext cx="1783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8FAFC"/>
                </a:solidFill>
                <a:latin typeface="Aptos"/>
              </a:rPr>
              <a:t>Analyse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845552" y="3977639"/>
            <a:ext cx="210312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A7B4CD"/>
                </a:solidFill>
                <a:latin typeface="Aptos"/>
              </a:rPr>
              <a:t>High-confidence error patterns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1792" y="6510528"/>
            <a:ext cx="109728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>
                <a:solidFill>
                  <a:srgbClr val="A7B4CD"/>
                </a:solidFill>
                <a:latin typeface="Aptos"/>
              </a:rPr>
              <a:t>RASCA • CDS Dissertation Presentation   |  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2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84048"/>
            <a:ext cx="10972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8FAFC"/>
                </a:solidFill>
                <a:latin typeface="Aptos"/>
              </a:rPr>
              <a:t>RASCA System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896112"/>
            <a:ext cx="1069848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A7B4CD"/>
                </a:solidFill>
                <a:latin typeface="Aptos"/>
              </a:rPr>
              <a:t>Reliability is treated as a decision layer after classification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1828800"/>
            <a:ext cx="1691640" cy="960120"/>
          </a:xfrm>
          <a:prstGeom prst="roundRect">
            <a:avLst/>
          </a:prstGeom>
          <a:solidFill>
            <a:srgbClr val="121C37"/>
          </a:solidFill>
          <a:ln>
            <a:solidFill>
              <a:srgbClr val="3F7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94360" y="2084831"/>
            <a:ext cx="1691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8FAFC"/>
                </a:solidFill>
                <a:latin typeface="Aptos"/>
              </a:rPr>
              <a:t>Social-media text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13432" y="2103120"/>
            <a:ext cx="365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A7B4CD"/>
                </a:solidFill>
                <a:latin typeface="Aptos"/>
              </a:rPr>
              <a:t>→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0" y="1828800"/>
            <a:ext cx="1691640" cy="960120"/>
          </a:xfrm>
          <a:prstGeom prst="roundRect">
            <a:avLst/>
          </a:prstGeom>
          <a:solidFill>
            <a:srgbClr val="121C37"/>
          </a:solidFill>
          <a:ln>
            <a:solidFill>
              <a:srgbClr val="895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743200" y="2084831"/>
            <a:ext cx="1691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8FAFC"/>
                </a:solidFill>
                <a:latin typeface="Aptos"/>
              </a:rPr>
              <a:t>TF-IDF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62272" y="2103120"/>
            <a:ext cx="365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A7B4CD"/>
                </a:solidFill>
                <a:latin typeface="Aptos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892040" y="1828800"/>
            <a:ext cx="1691640" cy="960120"/>
          </a:xfrm>
          <a:prstGeom prst="roundRect">
            <a:avLst/>
          </a:prstGeom>
          <a:solidFill>
            <a:srgbClr val="121C37"/>
          </a:solidFill>
          <a:ln>
            <a:solidFill>
              <a:srgbClr val="36D3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892040" y="2084831"/>
            <a:ext cx="1691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8FAFC"/>
                </a:solidFill>
                <a:latin typeface="Aptos"/>
              </a:rPr>
              <a:t>ML classifier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11112" y="2103120"/>
            <a:ext cx="365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A7B4CD"/>
                </a:solidFill>
                <a:latin typeface="Aptos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040880" y="1828800"/>
            <a:ext cx="1691640" cy="960120"/>
          </a:xfrm>
          <a:prstGeom prst="roundRect">
            <a:avLst/>
          </a:prstGeom>
          <a:solidFill>
            <a:srgbClr val="121C37"/>
          </a:solidFill>
          <a:ln>
            <a:solidFill>
              <a:srgbClr val="FFA9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040880" y="2084831"/>
            <a:ext cx="1691640" cy="55399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 dirty="0">
                <a:solidFill>
                  <a:schemeClr val="bg1"/>
                </a:solidFill>
                <a:latin typeface="Aptos"/>
              </a:rPr>
              <a:t>Confidence</a:t>
            </a:r>
            <a:r>
              <a:rPr dirty="0">
                <a:solidFill>
                  <a:schemeClr val="bg1"/>
                </a:solidFill>
              </a:rPr>
              <a:t/>
            </a:r>
            <a:br>
              <a:rPr dirty="0">
                <a:solidFill>
                  <a:schemeClr val="bg1"/>
                </a:solidFill>
              </a:rPr>
            </a:br>
            <a:r>
              <a:rPr dirty="0">
                <a:solidFill>
                  <a:schemeClr val="bg1"/>
                </a:solidFill>
              </a:rPr>
              <a:t>estimation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59952" y="2103120"/>
            <a:ext cx="365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A7B4CD"/>
                </a:solidFill>
                <a:latin typeface="Aptos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89720" y="1828800"/>
            <a:ext cx="1691640" cy="960120"/>
          </a:xfrm>
          <a:prstGeom prst="roundRect">
            <a:avLst/>
          </a:prstGeom>
          <a:solidFill>
            <a:srgbClr val="121C37"/>
          </a:solidFill>
          <a:ln>
            <a:solidFill>
              <a:srgbClr val="37D2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189720" y="2084831"/>
            <a:ext cx="1691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8FAFC"/>
                </a:solidFill>
                <a:latin typeface="Aptos"/>
              </a:rPr>
              <a:t>Calibration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34840" y="3703320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dirty="0">
                <a:solidFill>
                  <a:srgbClr val="36D3CB"/>
                </a:solidFill>
                <a:latin typeface="Aptos"/>
              </a:rPr>
              <a:t>Decision layer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4361688"/>
            <a:ext cx="2468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37D28C"/>
                </a:solidFill>
                <a:latin typeface="Aptos"/>
              </a:rPr>
              <a:t>ACCEPT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4736592"/>
            <a:ext cx="2377440" cy="49244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 dirty="0">
                <a:solidFill>
                  <a:schemeClr val="bg1"/>
                </a:solidFill>
                <a:latin typeface="Aptos"/>
              </a:rPr>
              <a:t>High-confidence predictions</a:t>
            </a:r>
            <a:r>
              <a:rPr sz="1600" dirty="0">
                <a:solidFill>
                  <a:schemeClr val="bg1"/>
                </a:solidFill>
              </a:rPr>
              <a:t/>
            </a:r>
            <a:br>
              <a:rPr sz="1600" dirty="0">
                <a:solidFill>
                  <a:schemeClr val="bg1"/>
                </a:solidFill>
              </a:rPr>
            </a:br>
            <a:r>
              <a:rPr sz="1600" dirty="0">
                <a:solidFill>
                  <a:schemeClr val="bg1"/>
                </a:solidFill>
              </a:rPr>
              <a:t>processed automatically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60520" y="4361688"/>
            <a:ext cx="2468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FFA94C"/>
                </a:solidFill>
                <a:latin typeface="Aptos"/>
              </a:rPr>
              <a:t>REVIEW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06240" y="4736592"/>
            <a:ext cx="2377440" cy="49244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 dirty="0">
                <a:solidFill>
                  <a:schemeClr val="bg1"/>
                </a:solidFill>
                <a:latin typeface="Aptos"/>
              </a:rPr>
              <a:t>Lower-confidence predictions</a:t>
            </a:r>
            <a:r>
              <a:rPr sz="1600" dirty="0">
                <a:solidFill>
                  <a:schemeClr val="bg1"/>
                </a:solidFill>
              </a:rPr>
              <a:t/>
            </a:r>
            <a:br>
              <a:rPr sz="1600" dirty="0">
                <a:solidFill>
                  <a:schemeClr val="bg1"/>
                </a:solidFill>
              </a:rPr>
            </a:br>
            <a:r>
              <a:rPr sz="1600" dirty="0">
                <a:solidFill>
                  <a:schemeClr val="bg1"/>
                </a:solidFill>
              </a:rPr>
              <a:t>routed for human review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52360" y="4361688"/>
            <a:ext cx="2468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F25D68"/>
                </a:solidFill>
                <a:latin typeface="Aptos"/>
              </a:rPr>
              <a:t>ERROR ANALYSIS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79" y="4736592"/>
            <a:ext cx="2377440" cy="4462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 dirty="0">
                <a:solidFill>
                  <a:schemeClr val="bg1"/>
                </a:solidFill>
                <a:latin typeface="Aptos"/>
              </a:rPr>
              <a:t>Inspect high-confidence</a:t>
            </a:r>
            <a:r>
              <a:rPr sz="1400" dirty="0">
                <a:solidFill>
                  <a:schemeClr val="bg1"/>
                </a:solidFill>
              </a:rPr>
              <a:t/>
            </a:r>
            <a:br>
              <a:rPr sz="1400" dirty="0">
                <a:solidFill>
                  <a:schemeClr val="bg1"/>
                </a:solidFill>
              </a:rPr>
            </a:br>
            <a:r>
              <a:rPr sz="1400" dirty="0">
                <a:solidFill>
                  <a:schemeClr val="bg1"/>
                </a:solidFill>
              </a:rPr>
              <a:t>mistakes and linguistic causes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1792" y="6510528"/>
            <a:ext cx="109728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>
                <a:solidFill>
                  <a:srgbClr val="A7B4CD"/>
                </a:solidFill>
                <a:latin typeface="Aptos"/>
              </a:rPr>
              <a:t>RASCA • CDS Dissertation Presentation   |  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2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84048"/>
            <a:ext cx="10972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8FAFC"/>
                </a:solidFill>
                <a:latin typeface="Aptos"/>
              </a:rPr>
              <a:t>Experimental Configuration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7" y="1490472"/>
            <a:ext cx="4892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dirty="0">
                <a:solidFill>
                  <a:srgbClr val="F8FAFC"/>
                </a:solidFill>
                <a:latin typeface="Aptos"/>
              </a:rPr>
              <a:t>Dataset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7" y="1781709"/>
            <a:ext cx="4892040" cy="274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 dirty="0">
                <a:solidFill>
                  <a:srgbClr val="A7B4CD"/>
                </a:solidFill>
                <a:latin typeface="Aptos"/>
              </a:rPr>
              <a:t>Sentiment140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64808" y="1490472"/>
            <a:ext cx="4892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F8FAFC"/>
                </a:solidFill>
                <a:latin typeface="Aptos"/>
              </a:rPr>
              <a:t>Records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4808" y="1807347"/>
            <a:ext cx="4892040" cy="274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 dirty="0">
                <a:solidFill>
                  <a:srgbClr val="A7B4CD"/>
                </a:solidFill>
                <a:latin typeface="Aptos"/>
              </a:rPr>
              <a:t>1,596,406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7" y="2386584"/>
            <a:ext cx="4892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F8FAFC"/>
                </a:solidFill>
                <a:latin typeface="Aptos"/>
              </a:rPr>
              <a:t>Split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7" y="2660730"/>
            <a:ext cx="4892040" cy="274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 dirty="0">
                <a:solidFill>
                  <a:srgbClr val="A7B4CD"/>
                </a:solidFill>
                <a:latin typeface="Aptos"/>
              </a:rPr>
              <a:t>80% train / 20% test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64808" y="2386584"/>
            <a:ext cx="4892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F8FAFC"/>
                </a:solidFill>
                <a:latin typeface="Aptos"/>
              </a:rPr>
              <a:t>CV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64808" y="2669276"/>
            <a:ext cx="4892040" cy="274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 dirty="0">
                <a:solidFill>
                  <a:srgbClr val="A7B4CD"/>
                </a:solidFill>
                <a:latin typeface="Aptos"/>
              </a:rPr>
              <a:t>5-fold </a:t>
            </a:r>
            <a:r>
              <a:rPr sz="1150" b="0" dirty="0" err="1">
                <a:solidFill>
                  <a:srgbClr val="A7B4CD"/>
                </a:solidFill>
                <a:latin typeface="Aptos"/>
              </a:rPr>
              <a:t>StratifiedKFold</a:t>
            </a:r>
            <a:endParaRPr sz="1150" b="0" dirty="0">
              <a:solidFill>
                <a:srgbClr val="A7B4CD"/>
              </a:solidFill>
              <a:latin typeface="Aptos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841247" y="3282696"/>
            <a:ext cx="4892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F8FAFC"/>
                </a:solidFill>
                <a:latin typeface="Aptos"/>
              </a:rPr>
              <a:t>TF-IDF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7" y="3573934"/>
            <a:ext cx="4892040" cy="274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 dirty="0">
                <a:solidFill>
                  <a:srgbClr val="A7B4CD"/>
                </a:solidFill>
                <a:latin typeface="Aptos"/>
              </a:rPr>
              <a:t>1–2 grams; max 300k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64808" y="3282696"/>
            <a:ext cx="4892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F8FAFC"/>
                </a:solidFill>
                <a:latin typeface="Aptos"/>
              </a:rPr>
              <a:t>Models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64808" y="3565388"/>
            <a:ext cx="4892040" cy="274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 dirty="0">
                <a:solidFill>
                  <a:srgbClr val="A7B4CD"/>
                </a:solidFill>
                <a:latin typeface="Aptos"/>
              </a:rPr>
              <a:t>LR, MNB, Linear SVM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1247" y="4178807"/>
            <a:ext cx="4892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F8FAFC"/>
                </a:solidFill>
                <a:latin typeface="Aptos"/>
              </a:rPr>
              <a:t>Calibration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1247" y="4478592"/>
            <a:ext cx="4892040" cy="274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 dirty="0">
                <a:solidFill>
                  <a:srgbClr val="A7B4CD"/>
                </a:solidFill>
                <a:latin typeface="Aptos"/>
              </a:rPr>
              <a:t>Sigmoid; 5-fold CV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64808" y="4178807"/>
            <a:ext cx="4892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F8FAFC"/>
                </a:solidFill>
                <a:latin typeface="Aptos"/>
              </a:rPr>
              <a:t>Thresholds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64808" y="4487138"/>
            <a:ext cx="4892040" cy="274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 dirty="0">
                <a:solidFill>
                  <a:srgbClr val="A7B4CD"/>
                </a:solidFill>
                <a:latin typeface="Aptos"/>
              </a:rPr>
              <a:t>0.60 / 0.70 / 0.80 / 0.90 / 0.95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1247" y="5074920"/>
            <a:ext cx="4892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F8FAFC"/>
                </a:solidFill>
                <a:latin typeface="Aptos"/>
              </a:rPr>
              <a:t>High-confidence analysis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1247" y="5391796"/>
            <a:ext cx="4892040" cy="274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 dirty="0">
                <a:solidFill>
                  <a:srgbClr val="A7B4CD"/>
                </a:solidFill>
                <a:latin typeface="Aptos"/>
              </a:rPr>
              <a:t>Threshold 0.90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64808" y="5074920"/>
            <a:ext cx="4892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F8FAFC"/>
                </a:solidFill>
                <a:latin typeface="Aptos"/>
              </a:rPr>
              <a:t>Not used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64808" y="5374704"/>
            <a:ext cx="4892040" cy="274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 dirty="0">
                <a:solidFill>
                  <a:srgbClr val="A7B4CD"/>
                </a:solidFill>
                <a:latin typeface="Aptos"/>
              </a:rPr>
              <a:t>Random Forest; </a:t>
            </a:r>
            <a:r>
              <a:rPr sz="1150" b="0" dirty="0" err="1">
                <a:solidFill>
                  <a:srgbClr val="A7B4CD"/>
                </a:solidFill>
                <a:latin typeface="Aptos"/>
              </a:rPr>
              <a:t>RandomizedSearchCV</a:t>
            </a:r>
            <a:endParaRPr sz="1150" b="0" dirty="0">
              <a:solidFill>
                <a:srgbClr val="A7B4CD"/>
              </a:solidFill>
              <a:latin typeface="Aptos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621792" y="6510528"/>
            <a:ext cx="109728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>
                <a:solidFill>
                  <a:srgbClr val="A7B4CD"/>
                </a:solidFill>
                <a:latin typeface="Aptos"/>
              </a:rPr>
              <a:t>RASCA • CDS Dissertation Presentation   |  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2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84048"/>
            <a:ext cx="10972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8FAFC"/>
                </a:solidFill>
                <a:latin typeface="Aptos"/>
              </a:rPr>
              <a:t>Classification Performance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896112"/>
            <a:ext cx="1069848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A7B4CD"/>
                </a:solidFill>
                <a:latin typeface="Aptos"/>
              </a:rPr>
              <a:t>Logistic Regression achieved the strongest observed test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25880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36D3CB"/>
                </a:solidFill>
                <a:latin typeface="Aptos"/>
              </a:rPr>
              <a:t>F1-score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A7B4CD"/>
                </a:solidFill>
                <a:latin typeface="Aptos"/>
              </a:rPr>
              <a:t>Logistic Regression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1847088"/>
            <a:ext cx="5943600" cy="384048"/>
          </a:xfrm>
          <a:prstGeom prst="roundRect">
            <a:avLst/>
          </a:prstGeom>
          <a:solidFill>
            <a:srgbClr val="2D3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2743200" y="1847088"/>
            <a:ext cx="4902281" cy="384048"/>
          </a:xfrm>
          <a:prstGeom prst="roundRect">
            <a:avLst/>
          </a:prstGeom>
          <a:solidFill>
            <a:srgbClr val="3F7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869680" y="1810512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8FAFC"/>
                </a:solidFill>
                <a:latin typeface="Aptos"/>
              </a:rPr>
              <a:t>0.8248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788920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A7B4CD"/>
                </a:solidFill>
                <a:latin typeface="Aptos"/>
              </a:rPr>
              <a:t>Linear SVM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43200" y="2807208"/>
            <a:ext cx="5943600" cy="384048"/>
          </a:xfrm>
          <a:prstGeom prst="roundRect">
            <a:avLst/>
          </a:prstGeom>
          <a:solidFill>
            <a:srgbClr val="2D3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2743200" y="2807208"/>
            <a:ext cx="4839279" cy="384048"/>
          </a:xfrm>
          <a:prstGeom prst="roundRect">
            <a:avLst/>
          </a:prstGeom>
          <a:solidFill>
            <a:srgbClr val="89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869680" y="2770632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8FAFC"/>
                </a:solidFill>
                <a:latin typeface="Aptos"/>
              </a:rPr>
              <a:t>0.8142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749039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A7B4CD"/>
                </a:solidFill>
                <a:latin typeface="Aptos"/>
              </a:rPr>
              <a:t>Multinomial NB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43200" y="3767327"/>
            <a:ext cx="5943600" cy="384048"/>
          </a:xfrm>
          <a:prstGeom prst="roundRect">
            <a:avLst/>
          </a:prstGeom>
          <a:solidFill>
            <a:srgbClr val="2D3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2743200" y="3767327"/>
            <a:ext cx="4764984" cy="384048"/>
          </a:xfrm>
          <a:prstGeom prst="roundRect">
            <a:avLst/>
          </a:prstGeom>
          <a:solidFill>
            <a:srgbClr val="89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869680" y="3730752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8FAFC"/>
                </a:solidFill>
                <a:latin typeface="Aptos"/>
              </a:rPr>
              <a:t>0.8017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983480"/>
            <a:ext cx="2560320" cy="1143000"/>
          </a:xfrm>
          <a:prstGeom prst="roundRect">
            <a:avLst/>
          </a:prstGeom>
          <a:solidFill>
            <a:srgbClr val="121C37"/>
          </a:solidFill>
          <a:ln>
            <a:solidFill>
              <a:srgbClr val="2D3C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96112" y="5129784"/>
            <a:ext cx="2240279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A7B4CD"/>
                </a:solidFill>
                <a:latin typeface="Aptos"/>
              </a:rPr>
              <a:t>Best accuracy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6112" y="5422392"/>
            <a:ext cx="22402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3F7DFF"/>
                </a:solidFill>
                <a:latin typeface="Aptos"/>
              </a:rPr>
              <a:t>0.8234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474720" y="4983480"/>
            <a:ext cx="2560320" cy="1143000"/>
          </a:xfrm>
          <a:prstGeom prst="roundRect">
            <a:avLst/>
          </a:prstGeom>
          <a:solidFill>
            <a:srgbClr val="121C37"/>
          </a:solidFill>
          <a:ln>
            <a:solidFill>
              <a:srgbClr val="2D3C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639312" y="5129784"/>
            <a:ext cx="2240279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A7B4CD"/>
                </a:solidFill>
                <a:latin typeface="Aptos"/>
              </a:rPr>
              <a:t>Best F1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39312" y="5422392"/>
            <a:ext cx="22402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36D3CB"/>
                </a:solidFill>
                <a:latin typeface="Aptos"/>
              </a:rPr>
              <a:t>0.8248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7920" y="4983480"/>
            <a:ext cx="2560320" cy="1143000"/>
          </a:xfrm>
          <a:prstGeom prst="roundRect">
            <a:avLst/>
          </a:prstGeom>
          <a:solidFill>
            <a:srgbClr val="121C37"/>
          </a:solidFill>
          <a:ln>
            <a:solidFill>
              <a:srgbClr val="2D3C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382512" y="5129784"/>
            <a:ext cx="2240279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A7B4CD"/>
                </a:solidFill>
                <a:latin typeface="Aptos"/>
              </a:rPr>
              <a:t>Best ROC-AUC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82512" y="5422392"/>
            <a:ext cx="22402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895CFF"/>
                </a:solidFill>
                <a:latin typeface="Aptos"/>
              </a:rPr>
              <a:t>0.9024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961120" y="4983480"/>
            <a:ext cx="2286000" cy="1143000"/>
          </a:xfrm>
          <a:prstGeom prst="roundRect">
            <a:avLst/>
          </a:prstGeom>
          <a:solidFill>
            <a:srgbClr val="121C37"/>
          </a:solidFill>
          <a:ln>
            <a:solidFill>
              <a:srgbClr val="2D3C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125712" y="5129784"/>
            <a:ext cx="19659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A7B4CD"/>
                </a:solidFill>
                <a:latin typeface="Aptos"/>
              </a:rPr>
              <a:t>Best model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25712" y="5422392"/>
            <a:ext cx="1965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37D28C"/>
                </a:solidFill>
                <a:latin typeface="Aptos"/>
              </a:rPr>
              <a:t>LR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1792" y="6510528"/>
            <a:ext cx="109728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>
                <a:solidFill>
                  <a:srgbClr val="A7B4CD"/>
                </a:solidFill>
                <a:latin typeface="Aptos"/>
              </a:rPr>
              <a:t>RASCA • CDS Dissertation Presentation   |  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2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84048"/>
            <a:ext cx="10972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8FAFC"/>
                </a:solidFill>
                <a:latin typeface="Aptos"/>
              </a:rPr>
              <a:t>Confidence Calibration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896112"/>
            <a:ext cx="1069848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A7B4CD"/>
                </a:solidFill>
                <a:latin typeface="Aptos"/>
              </a:rPr>
              <a:t>Calibration reduced ECE, while Brier score did not improve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" y="1517904"/>
            <a:ext cx="24231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A7B4CD"/>
                </a:solidFill>
                <a:latin typeface="Aptos"/>
              </a:rPr>
              <a:t>Uncalibrated ECE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0392" y="1810512"/>
            <a:ext cx="2423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FFA94C"/>
                </a:solidFill>
                <a:latin typeface="Aptos"/>
              </a:rPr>
              <a:t>0.0172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22191" y="1517904"/>
            <a:ext cx="24231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A7B4CD"/>
                </a:solidFill>
                <a:latin typeface="Aptos"/>
              </a:rPr>
              <a:t>Calibrated ECE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22191" y="1810512"/>
            <a:ext cx="2423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37D28C"/>
                </a:solidFill>
                <a:latin typeface="Aptos"/>
              </a:rPr>
              <a:t>0.0106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93992" y="1517904"/>
            <a:ext cx="24231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A7B4CD"/>
                </a:solidFill>
                <a:latin typeface="Aptos"/>
              </a:rPr>
              <a:t>Mean confidence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93992" y="1810512"/>
            <a:ext cx="2423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3F7DFF"/>
                </a:solidFill>
                <a:latin typeface="Aptos"/>
              </a:rPr>
              <a:t>0.8148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3090672"/>
            <a:ext cx="4754879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F8FAFC"/>
                </a:solidFill>
                <a:latin typeface="Aptos"/>
              </a:rPr>
              <a:t>What changed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6968" y="3493008"/>
            <a:ext cx="4754879" cy="7386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lang="en-US" sz="1400" dirty="0">
                <a:solidFill>
                  <a:srgbClr val="A7B4CD"/>
                </a:solidFill>
                <a:latin typeface="Aptos"/>
              </a:rPr>
              <a:t>Expected Calibration Error reduced from about 0.0172 to 0.0106, which means that there is a better match between confidence and accuracy.</a:t>
            </a:r>
            <a:endParaRPr sz="1400" b="0" dirty="0">
              <a:solidFill>
                <a:srgbClr val="A7B4CD"/>
              </a:solidFill>
              <a:latin typeface="Aptos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6281928" y="3090672"/>
            <a:ext cx="4754879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F8FAFC"/>
                </a:solidFill>
                <a:latin typeface="Aptos"/>
              </a:rPr>
              <a:t>Important limitation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81928" y="3493008"/>
            <a:ext cx="4754879" cy="5232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lang="en-US" sz="1400" dirty="0">
                <a:solidFill>
                  <a:srgbClr val="A7B4CD"/>
                </a:solidFill>
                <a:latin typeface="Aptos"/>
              </a:rPr>
              <a:t>The Brier score rose from 0.125908 to 0.126250. Thus, it cannot be said that reliability is measured</a:t>
            </a:r>
            <a:endParaRPr sz="1400" b="0" dirty="0">
              <a:solidFill>
                <a:srgbClr val="A7B4CD"/>
              </a:solidFill>
              <a:latin typeface="Aptos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621792" y="6510528"/>
            <a:ext cx="109728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>
                <a:solidFill>
                  <a:srgbClr val="A7B4CD"/>
                </a:solidFill>
                <a:latin typeface="Aptos"/>
              </a:rPr>
              <a:t>RASCA • CDS Dissertation Presentation   |  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2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84048"/>
            <a:ext cx="10972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8FAFC"/>
                </a:solidFill>
                <a:latin typeface="Aptos"/>
              </a:rPr>
              <a:t>Confidence vs Prediction Correctness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896112"/>
            <a:ext cx="1069848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A7B4CD"/>
                </a:solidFill>
                <a:latin typeface="Aptos"/>
              </a:rPr>
              <a:t>Higher confidence was associated with higher observed accuracy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25880"/>
            <a:ext cx="2011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36D3CB"/>
                </a:solidFill>
                <a:latin typeface="Aptos"/>
              </a:rPr>
              <a:t>Observed accuracy</a:t>
            </a:r>
          </a:p>
        </p:txBody>
      </p:sp>
      <p:cxnSp>
        <p:nvCxnSpPr>
          <p:cNvPr id="5" name="Connector 4"/>
          <p:cNvCxnSpPr/>
          <p:nvPr/>
        </p:nvCxnSpPr>
        <p:spPr>
          <a:xfrm flipV="1">
            <a:off x="1828800" y="1828800"/>
            <a:ext cx="8046720" cy="3200400"/>
          </a:xfrm>
          <a:prstGeom prst="line">
            <a:avLst/>
          </a:prstGeom>
          <a:ln w="38100">
            <a:solidFill>
              <a:srgbClr val="36D3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Oval 5"/>
          <p:cNvSpPr/>
          <p:nvPr/>
        </p:nvSpPr>
        <p:spPr>
          <a:xfrm>
            <a:off x="1709928" y="4910328"/>
            <a:ext cx="237744" cy="237744"/>
          </a:xfrm>
          <a:prstGeom prst="ellipse">
            <a:avLst/>
          </a:prstGeom>
          <a:solidFill>
            <a:srgbClr val="36D3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97280" y="5193792"/>
            <a:ext cx="1463040" cy="53860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 dirty="0">
                <a:solidFill>
                  <a:schemeClr val="bg1"/>
                </a:solidFill>
                <a:latin typeface="Aptos"/>
              </a:rPr>
              <a:t>55.48%</a:t>
            </a:r>
            <a:r>
              <a:rPr dirty="0">
                <a:solidFill>
                  <a:schemeClr val="bg1"/>
                </a:solidFill>
              </a:rPr>
              <a:t/>
            </a:r>
            <a:br>
              <a:rPr dirty="0">
                <a:solidFill>
                  <a:schemeClr val="bg1"/>
                </a:solidFill>
              </a:rPr>
            </a:br>
            <a:r>
              <a:rPr dirty="0">
                <a:solidFill>
                  <a:schemeClr val="bg1"/>
                </a:solidFill>
              </a:rPr>
              <a:t>0.50–0.60</a:t>
            </a:r>
          </a:p>
        </p:txBody>
      </p:sp>
      <p:sp>
        <p:nvSpPr>
          <p:cNvPr id="8" name="Oval 7"/>
          <p:cNvSpPr/>
          <p:nvPr/>
        </p:nvSpPr>
        <p:spPr>
          <a:xfrm>
            <a:off x="9756648" y="1709928"/>
            <a:ext cx="237744" cy="237744"/>
          </a:xfrm>
          <a:prstGeom prst="ellipse">
            <a:avLst/>
          </a:prstGeom>
          <a:solidFill>
            <a:srgbClr val="36D3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144000" y="1993392"/>
            <a:ext cx="1463040" cy="53860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 dirty="0">
                <a:solidFill>
                  <a:schemeClr val="bg1"/>
                </a:solidFill>
                <a:latin typeface="Aptos"/>
              </a:rPr>
              <a:t>97.07%</a:t>
            </a:r>
            <a:r>
              <a:rPr dirty="0">
                <a:solidFill>
                  <a:schemeClr val="bg1"/>
                </a:solidFill>
              </a:rPr>
              <a:t/>
            </a:r>
            <a:br>
              <a:rPr dirty="0">
                <a:solidFill>
                  <a:schemeClr val="bg1"/>
                </a:solidFill>
              </a:rPr>
            </a:br>
            <a:r>
              <a:rPr dirty="0">
                <a:solidFill>
                  <a:schemeClr val="bg1"/>
                </a:solidFill>
              </a:rPr>
              <a:t>0.95–1.00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46320" y="5623560"/>
            <a:ext cx="2103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A7B4CD"/>
                </a:solidFill>
                <a:latin typeface="Aptos"/>
              </a:rPr>
              <a:t>Confidence bin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1828800"/>
            <a:ext cx="3108960" cy="1280160"/>
          </a:xfrm>
          <a:prstGeom prst="roundRect">
            <a:avLst/>
          </a:prstGeom>
          <a:solidFill>
            <a:srgbClr val="121C37"/>
          </a:solidFill>
          <a:ln w="10160">
            <a:solidFill>
              <a:srgbClr val="2D3C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32688" y="1993392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F8FAFC"/>
                </a:solidFill>
                <a:latin typeface="Aptos"/>
              </a:rPr>
              <a:t>Low-confidence band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" y="2395728"/>
            <a:ext cx="2743200" cy="59435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A7B4CD"/>
                </a:solidFill>
                <a:latin typeface="Aptos"/>
              </a:rPr>
              <a:t>0.50–0.60 confidence → 55.48% accuracy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0" y="3703320"/>
            <a:ext cx="3108960" cy="1280160"/>
          </a:xfrm>
          <a:prstGeom prst="roundRect">
            <a:avLst/>
          </a:prstGeom>
          <a:solidFill>
            <a:srgbClr val="121C37"/>
          </a:solidFill>
          <a:ln w="10160">
            <a:solidFill>
              <a:srgbClr val="2D3C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430768" y="3867911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F8FAFC"/>
                </a:solidFill>
                <a:latin typeface="Aptos"/>
              </a:rPr>
              <a:t>High-confidence band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30768" y="4270248"/>
            <a:ext cx="2743200" cy="59435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A7B4CD"/>
                </a:solidFill>
                <a:latin typeface="Aptos"/>
              </a:rPr>
              <a:t>0.95–1.00 confidence → 97.07% accuracy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" y="6510528"/>
            <a:ext cx="109728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>
                <a:solidFill>
                  <a:srgbClr val="A7B4CD"/>
                </a:solidFill>
                <a:latin typeface="Aptos"/>
              </a:rPr>
              <a:t>RASCA • CDS Dissertation Presentation   |  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2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84048"/>
            <a:ext cx="10972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8FAFC"/>
                </a:solidFill>
                <a:latin typeface="Aptos"/>
              </a:rPr>
              <a:t>Selective Prediction — Accept / Review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896112"/>
            <a:ext cx="1069848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A7B4CD"/>
                </a:solidFill>
                <a:latin typeface="Aptos"/>
              </a:rPr>
              <a:t>Increasing the confidence threshold reduces coverage but lowers accepted risk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25880"/>
            <a:ext cx="1554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36D3CB"/>
                </a:solidFill>
                <a:latin typeface="Aptos"/>
              </a:rPr>
              <a:t>Threshold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0" y="1325880"/>
            <a:ext cx="1554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36D3CB"/>
                </a:solidFill>
                <a:latin typeface="Aptos"/>
              </a:rPr>
              <a:t>Coverage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0" y="1325880"/>
            <a:ext cx="20116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36D3CB"/>
                </a:solidFill>
                <a:latin typeface="Aptos"/>
              </a:rPr>
              <a:t>Accepted accuracy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0" y="1325880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36D3CB"/>
                </a:solidFill>
                <a:latin typeface="Aptos"/>
              </a:rPr>
              <a:t>Risk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828800"/>
            <a:ext cx="1554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8FAFC"/>
                </a:solidFill>
                <a:latin typeface="Aptos"/>
              </a:rPr>
              <a:t>0.60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0" y="1828800"/>
            <a:ext cx="1554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F8FAFC"/>
                </a:solidFill>
                <a:latin typeface="Aptos"/>
              </a:rPr>
              <a:t>88.03%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1828800"/>
            <a:ext cx="2011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37D28C"/>
                </a:solidFill>
                <a:latin typeface="Aptos"/>
              </a:rPr>
              <a:t>85.88%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0" y="1828800"/>
            <a:ext cx="1371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FFA94C"/>
                </a:solidFill>
                <a:latin typeface="Aptos"/>
              </a:rPr>
              <a:t>14.12%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86800" y="1837943"/>
            <a:ext cx="2468880" cy="320040"/>
          </a:xfrm>
          <a:prstGeom prst="roundRect">
            <a:avLst/>
          </a:prstGeom>
          <a:solidFill>
            <a:srgbClr val="2D3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8686800" y="1837943"/>
            <a:ext cx="2173355" cy="320040"/>
          </a:xfrm>
          <a:prstGeom prst="roundRect">
            <a:avLst/>
          </a:prstGeom>
          <a:solidFill>
            <a:srgbClr val="3F7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31520" y="2487168"/>
            <a:ext cx="1554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8FAFC"/>
                </a:solidFill>
                <a:latin typeface="Aptos"/>
              </a:rPr>
              <a:t>0.70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0" y="2487168"/>
            <a:ext cx="1554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F8FAFC"/>
                </a:solidFill>
                <a:latin typeface="Aptos"/>
              </a:rPr>
              <a:t>74.82%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80" y="2487168"/>
            <a:ext cx="2011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37D28C"/>
                </a:solidFill>
                <a:latin typeface="Aptos"/>
              </a:rPr>
              <a:t>89.24%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0" y="2487168"/>
            <a:ext cx="1371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FFA94C"/>
                </a:solidFill>
                <a:latin typeface="Aptos"/>
              </a:rPr>
              <a:t>10.76%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686800" y="2496311"/>
            <a:ext cx="2468880" cy="320040"/>
          </a:xfrm>
          <a:prstGeom prst="roundRect">
            <a:avLst/>
          </a:prstGeom>
          <a:solidFill>
            <a:srgbClr val="2D3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8686800" y="2496311"/>
            <a:ext cx="1847216" cy="320040"/>
          </a:xfrm>
          <a:prstGeom prst="roundRect">
            <a:avLst/>
          </a:prstGeom>
          <a:solidFill>
            <a:srgbClr val="3F7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31520" y="3145536"/>
            <a:ext cx="1554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8FAFC"/>
                </a:solidFill>
                <a:latin typeface="Aptos"/>
              </a:rPr>
              <a:t>0.80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43200" y="3145536"/>
            <a:ext cx="1554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F8FAFC"/>
                </a:solidFill>
                <a:latin typeface="Aptos"/>
              </a:rPr>
              <a:t>59.18%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54880" y="3145536"/>
            <a:ext cx="2011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37D28C"/>
                </a:solidFill>
                <a:latin typeface="Aptos"/>
              </a:rPr>
              <a:t>92.47%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0" y="3145536"/>
            <a:ext cx="1371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FFA94C"/>
                </a:solidFill>
                <a:latin typeface="Aptos"/>
              </a:rPr>
              <a:t>7.53%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686800" y="3154679"/>
            <a:ext cx="2468880" cy="320040"/>
          </a:xfrm>
          <a:prstGeom prst="roundRect">
            <a:avLst/>
          </a:prstGeom>
          <a:solidFill>
            <a:srgbClr val="2D3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8686800" y="3154679"/>
            <a:ext cx="1461083" cy="320040"/>
          </a:xfrm>
          <a:prstGeom prst="roundRect">
            <a:avLst/>
          </a:prstGeom>
          <a:solidFill>
            <a:srgbClr val="3F7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31520" y="3803904"/>
            <a:ext cx="1554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8FAFC"/>
                </a:solidFill>
                <a:latin typeface="Aptos"/>
              </a:rPr>
              <a:t>0.90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43200" y="3803904"/>
            <a:ext cx="1554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F8FAFC"/>
                </a:solidFill>
                <a:latin typeface="Aptos"/>
              </a:rPr>
              <a:t>38.41%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54880" y="3803904"/>
            <a:ext cx="2011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37D28C"/>
                </a:solidFill>
                <a:latin typeface="Aptos"/>
              </a:rPr>
              <a:t>95.42%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0" y="3803904"/>
            <a:ext cx="1371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FFA94C"/>
                </a:solidFill>
                <a:latin typeface="Aptos"/>
              </a:rPr>
              <a:t>4.58%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686800" y="3813048"/>
            <a:ext cx="2468880" cy="320040"/>
          </a:xfrm>
          <a:prstGeom prst="roundRect">
            <a:avLst/>
          </a:prstGeom>
          <a:solidFill>
            <a:srgbClr val="2D3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8686800" y="3813048"/>
            <a:ext cx="948296" cy="320040"/>
          </a:xfrm>
          <a:prstGeom prst="roundRect">
            <a:avLst/>
          </a:prstGeom>
          <a:solidFill>
            <a:srgbClr val="3F7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731520" y="4462272"/>
            <a:ext cx="1554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8FAFC"/>
                </a:solidFill>
                <a:latin typeface="Aptos"/>
              </a:rPr>
              <a:t>0.95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43200" y="4462272"/>
            <a:ext cx="1554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F8FAFC"/>
                </a:solidFill>
                <a:latin typeface="Aptos"/>
              </a:rPr>
              <a:t>23.62%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754880" y="4462272"/>
            <a:ext cx="2011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37D28C"/>
                </a:solidFill>
                <a:latin typeface="Aptos"/>
              </a:rPr>
              <a:t>97.07%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0" y="4462272"/>
            <a:ext cx="1371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FFA94C"/>
                </a:solidFill>
                <a:latin typeface="Aptos"/>
              </a:rPr>
              <a:t>2.93%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686800" y="4471416"/>
            <a:ext cx="2468880" cy="320040"/>
          </a:xfrm>
          <a:prstGeom prst="roundRect">
            <a:avLst/>
          </a:prstGeom>
          <a:solidFill>
            <a:srgbClr val="2D3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ounded Rectangle 36"/>
          <p:cNvSpPr/>
          <p:nvPr/>
        </p:nvSpPr>
        <p:spPr>
          <a:xfrm>
            <a:off x="8686800" y="4471416"/>
            <a:ext cx="583149" cy="320040"/>
          </a:xfrm>
          <a:prstGeom prst="roundRect">
            <a:avLst/>
          </a:prstGeom>
          <a:solidFill>
            <a:srgbClr val="3F7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21792" y="6510528"/>
            <a:ext cx="109728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>
                <a:solidFill>
                  <a:srgbClr val="A7B4CD"/>
                </a:solidFill>
                <a:latin typeface="Aptos"/>
              </a:rPr>
              <a:t>RASCA • CDS Dissertation Presentation   |  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2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84048"/>
            <a:ext cx="10972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8FAFC"/>
                </a:solidFill>
                <a:latin typeface="Aptos"/>
              </a:rPr>
              <a:t>Key Findings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896112"/>
            <a:ext cx="1069848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A7B4CD"/>
                </a:solidFill>
                <a:latin typeface="Aptos"/>
              </a:rPr>
              <a:t>What the experiments show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234440"/>
            <a:ext cx="1828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dirty="0">
                <a:solidFill>
                  <a:srgbClr val="F8FAFC"/>
                </a:solidFill>
                <a:latin typeface="Aptos"/>
              </a:rPr>
              <a:t>Classification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0" y="1207008"/>
            <a:ext cx="85039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A7B4CD"/>
                </a:solidFill>
                <a:latin typeface="Aptos"/>
              </a:rPr>
              <a:t>Logistic Regression produced the strongest overall test results among the three evaluated models.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2176272"/>
            <a:ext cx="1828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8FAFC"/>
                </a:solidFill>
                <a:latin typeface="Aptos"/>
              </a:rPr>
              <a:t>Confidence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0" y="2148840"/>
            <a:ext cx="85039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A7B4CD"/>
                </a:solidFill>
                <a:latin typeface="Aptos"/>
              </a:rPr>
              <a:t>Observed accuracy increased substantially across confidence bands.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20" y="3118104"/>
            <a:ext cx="1828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8FAFC"/>
                </a:solidFill>
                <a:latin typeface="Aptos"/>
              </a:rPr>
              <a:t>Calibration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80" y="3090672"/>
            <a:ext cx="8503920" cy="28469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 dirty="0">
                <a:solidFill>
                  <a:srgbClr val="A7B4CD"/>
                </a:solidFill>
                <a:latin typeface="Aptos"/>
              </a:rPr>
              <a:t>ECE improved after sigmoid </a:t>
            </a:r>
            <a:r>
              <a:rPr sz="1250" b="0" dirty="0" smtClean="0">
                <a:solidFill>
                  <a:srgbClr val="A7B4CD"/>
                </a:solidFill>
                <a:latin typeface="Aptos"/>
              </a:rPr>
              <a:t>calibration.</a:t>
            </a:r>
            <a:endParaRPr sz="1250" b="0" dirty="0">
              <a:solidFill>
                <a:srgbClr val="A7B4CD"/>
              </a:solidFill>
              <a:latin typeface="Aptos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417320" y="4059935"/>
            <a:ext cx="1828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8FAFC"/>
                </a:solidFill>
                <a:latin typeface="Aptos"/>
              </a:rPr>
              <a:t>Selective prediction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0" y="4032503"/>
            <a:ext cx="85039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A7B4CD"/>
                </a:solidFill>
                <a:latin typeface="Aptos"/>
              </a:rPr>
              <a:t>Higher thresholds traded coverage for higher accepted accuracy and lower risk.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17320" y="5001768"/>
            <a:ext cx="1828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8FAFC"/>
                </a:solidFill>
                <a:latin typeface="Aptos"/>
              </a:rPr>
              <a:t>Residual risk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26080" y="4974336"/>
            <a:ext cx="85039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A7B4CD"/>
                </a:solidFill>
                <a:latin typeface="Aptos"/>
              </a:rPr>
              <a:t>High-confidence errors remained, especially around difficult linguistic patterns.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" y="6510528"/>
            <a:ext cx="109728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>
                <a:solidFill>
                  <a:srgbClr val="A7B4CD"/>
                </a:solidFill>
                <a:latin typeface="Aptos"/>
              </a:rPr>
              <a:t>RASCA • CDS Dissertation Presentation   |   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2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84048"/>
            <a:ext cx="10972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8FAFC"/>
                </a:solidFill>
                <a:latin typeface="Aptos"/>
              </a:rPr>
              <a:t>Practical Implications &amp; Limitations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7" y="1490472"/>
            <a:ext cx="4937759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F8FAFC"/>
                </a:solidFill>
                <a:latin typeface="Aptos"/>
              </a:rPr>
              <a:t>Practical implications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7" y="1892807"/>
            <a:ext cx="4937759" cy="106182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50000"/>
              </a:lnSpc>
            </a:pPr>
            <a:r>
              <a:rPr lang="en-US" sz="1050" dirty="0">
                <a:solidFill>
                  <a:schemeClr val="bg1"/>
                </a:solidFill>
                <a:latin typeface="Aptos"/>
              </a:rPr>
              <a:t>Reliability can be embedded in decision layers of lightweight sentiment analysis systems. </a:t>
            </a:r>
            <a:endParaRPr lang="en-US" sz="1050" dirty="0" smtClean="0">
              <a:solidFill>
                <a:schemeClr val="bg1"/>
              </a:solidFill>
              <a:latin typeface="Aptos"/>
            </a:endParaRPr>
          </a:p>
          <a:p>
            <a:pPr>
              <a:lnSpc>
                <a:spcPct val="150000"/>
              </a:lnSpc>
            </a:pPr>
            <a:r>
              <a:rPr lang="en-US" sz="1050" dirty="0" smtClean="0">
                <a:solidFill>
                  <a:schemeClr val="bg1"/>
                </a:solidFill>
                <a:latin typeface="Aptos"/>
              </a:rPr>
              <a:t>Confidence </a:t>
            </a:r>
            <a:r>
              <a:rPr lang="en-US" sz="1050" dirty="0">
                <a:solidFill>
                  <a:schemeClr val="bg1"/>
                </a:solidFill>
                <a:latin typeface="Aptos"/>
              </a:rPr>
              <a:t>thresholds can define an explicit Accept/Review process. </a:t>
            </a:r>
            <a:endParaRPr lang="en-US" sz="1050" dirty="0" smtClean="0">
              <a:solidFill>
                <a:schemeClr val="bg1"/>
              </a:solidFill>
              <a:latin typeface="Aptos"/>
            </a:endParaRPr>
          </a:p>
          <a:p>
            <a:pPr>
              <a:lnSpc>
                <a:spcPct val="150000"/>
              </a:lnSpc>
            </a:pPr>
            <a:r>
              <a:rPr lang="en-US" sz="1050" dirty="0" smtClean="0">
                <a:solidFill>
                  <a:schemeClr val="bg1"/>
                </a:solidFill>
                <a:latin typeface="Aptos"/>
              </a:rPr>
              <a:t>Error </a:t>
            </a:r>
            <a:r>
              <a:rPr lang="en-US" sz="1050" dirty="0">
                <a:solidFill>
                  <a:schemeClr val="bg1"/>
                </a:solidFill>
                <a:latin typeface="Aptos"/>
              </a:rPr>
              <a:t>analysis is required even in instances of high confidence.</a:t>
            </a:r>
            <a:endParaRPr sz="1200" dirty="0">
              <a:solidFill>
                <a:schemeClr val="bg1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6419088" y="1490472"/>
            <a:ext cx="4937759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F8FAFC"/>
                </a:solidFill>
                <a:latin typeface="Aptos"/>
              </a:rPr>
              <a:t>Limitations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19088" y="1892807"/>
            <a:ext cx="4937759" cy="90024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lang="en-US" sz="1050" dirty="0">
                <a:solidFill>
                  <a:schemeClr val="bg1"/>
                </a:solidFill>
                <a:latin typeface="Aptos"/>
              </a:rPr>
              <a:t>- </a:t>
            </a:r>
            <a:r>
              <a:rPr lang="en-US" sz="1050" dirty="0" err="1">
                <a:solidFill>
                  <a:schemeClr val="bg1"/>
                </a:solidFill>
                <a:latin typeface="Aptos"/>
              </a:rPr>
              <a:t>Histoical</a:t>
            </a:r>
            <a:r>
              <a:rPr lang="en-US" sz="1050" dirty="0">
                <a:solidFill>
                  <a:schemeClr val="bg1"/>
                </a:solidFill>
                <a:latin typeface="Aptos"/>
              </a:rPr>
              <a:t>, labeled Sentiment140 data set</a:t>
            </a:r>
          </a:p>
          <a:p>
            <a:r>
              <a:rPr lang="en-US" sz="1050" dirty="0">
                <a:solidFill>
                  <a:schemeClr val="bg1"/>
                </a:solidFill>
                <a:latin typeface="Aptos"/>
              </a:rPr>
              <a:t>- Binary classification of sentiment</a:t>
            </a:r>
          </a:p>
          <a:p>
            <a:r>
              <a:rPr lang="en-US" sz="1050" dirty="0">
                <a:solidFill>
                  <a:schemeClr val="bg1"/>
                </a:solidFill>
                <a:latin typeface="Aptos"/>
              </a:rPr>
              <a:t>- The TF-IDF representation doesn’t do justice to the semantics of the context</a:t>
            </a:r>
          </a:p>
          <a:p>
            <a:r>
              <a:rPr lang="en-US" sz="1050" dirty="0">
                <a:solidFill>
                  <a:schemeClr val="bg1"/>
                </a:solidFill>
                <a:latin typeface="Aptos"/>
              </a:rPr>
              <a:t>- No holistic human evaluation</a:t>
            </a:r>
          </a:p>
          <a:p>
            <a:r>
              <a:rPr lang="en-US" sz="1050" dirty="0">
                <a:solidFill>
                  <a:schemeClr val="bg1"/>
                </a:solidFill>
                <a:latin typeface="Aptos"/>
              </a:rPr>
              <a:t>- The results are dataset/pipeline specific</a:t>
            </a:r>
            <a:endParaRPr sz="1200" dirty="0">
              <a:solidFill>
                <a:schemeClr val="bg1"/>
              </a:solidFill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841247" y="3685032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F8FAFC"/>
                </a:solidFill>
                <a:latin typeface="Aptos"/>
              </a:rPr>
              <a:t>What should not be claimed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7" y="4087368"/>
            <a:ext cx="10515600" cy="5232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lang="en-US" sz="1400" dirty="0">
                <a:solidFill>
                  <a:srgbClr val="A7B4CD"/>
                </a:solidFill>
                <a:latin typeface="Aptos"/>
              </a:rPr>
              <a:t>However, </a:t>
            </a:r>
            <a:r>
              <a:rPr lang="en-US" sz="1400" dirty="0" err="1">
                <a:solidFill>
                  <a:srgbClr val="A7B4CD"/>
                </a:solidFill>
                <a:latin typeface="Aptos"/>
              </a:rPr>
              <a:t>Rasca</a:t>
            </a:r>
            <a:r>
              <a:rPr lang="en-US" sz="1400" dirty="0">
                <a:solidFill>
                  <a:srgbClr val="A7B4CD"/>
                </a:solidFill>
                <a:latin typeface="Aptos"/>
              </a:rPr>
              <a:t> has neither proven that high-confidence predictions are always true, nor that the approach can be generalized to other contexts without further validation.</a:t>
            </a:r>
            <a:endParaRPr sz="1400" b="0" dirty="0">
              <a:solidFill>
                <a:srgbClr val="A7B4CD"/>
              </a:solidFill>
              <a:latin typeface="Aptos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621792" y="6510528"/>
            <a:ext cx="109728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>
                <a:solidFill>
                  <a:srgbClr val="A7B4CD"/>
                </a:solidFill>
                <a:latin typeface="Aptos"/>
              </a:rPr>
              <a:t>RASCA • CDS Dissertation Presentation   |   15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2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84048"/>
            <a:ext cx="10972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8FAFC"/>
                </a:solidFill>
                <a:latin typeface="Aptos"/>
              </a:rPr>
              <a:t>Conclusion &amp; Future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25880"/>
            <a:ext cx="1828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36D3CB"/>
                </a:solidFill>
                <a:latin typeface="Aptos"/>
              </a:rPr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691640"/>
            <a:ext cx="10698480" cy="92333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lang="en-US" b="1" dirty="0">
                <a:solidFill>
                  <a:srgbClr val="F8FAFC"/>
                </a:solidFill>
                <a:latin typeface="Aptos"/>
              </a:rPr>
              <a:t>The contribution of RASCA is in the development of a comprehensive framework for evaluation from a reliability perspective that includes sentiment classification as well as confidence estimation and calibration.</a:t>
            </a:r>
            <a:endParaRPr sz="1800" b="1" dirty="0">
              <a:solidFill>
                <a:srgbClr val="F8FAFC"/>
              </a:solidFill>
              <a:latin typeface="Apto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85800" y="3246120"/>
            <a:ext cx="1828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895CFF"/>
                </a:solidFill>
                <a:latin typeface="Aptos"/>
              </a:rPr>
              <a:t>Future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657600"/>
            <a:ext cx="10058400" cy="383181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dirty="0">
                <a:solidFill>
                  <a:schemeClr val="bg1"/>
                </a:solidFill>
              </a:rPr>
              <a:t>• Validate on newer and cross-domain social-media </a:t>
            </a:r>
            <a:r>
              <a:rPr dirty="0">
                <a:solidFill>
                  <a:schemeClr val="bg1"/>
                </a:solidFill>
              </a:rPr>
              <a:t>datasets</a:t>
            </a:r>
            <a:endParaRPr lang="en-US" dirty="0">
              <a:solidFill>
                <a:schemeClr val="bg1"/>
              </a:solidFill>
            </a:endParaRPr>
          </a:p>
          <a:p>
            <a:pPr>
              <a:lnSpc>
                <a:spcPct val="150000"/>
              </a:lnSpc>
            </a:pPr>
            <a:r>
              <a:rPr lang="en-US" dirty="0">
                <a:solidFill>
                  <a:schemeClr val="bg1"/>
                </a:solidFill>
              </a:rPr>
              <a:t>• Compare TF-IDF reliability with transformer-based representations</a:t>
            </a:r>
          </a:p>
          <a:p>
            <a:pPr>
              <a:lnSpc>
                <a:spcPct val="150000"/>
              </a:lnSpc>
            </a:pPr>
            <a:r>
              <a:rPr lang="en-US" dirty="0">
                <a:solidFill>
                  <a:schemeClr val="bg1"/>
                </a:solidFill>
              </a:rPr>
              <a:t>• Investigate stronger calibration and uncertainty methods</a:t>
            </a:r>
          </a:p>
          <a:p>
            <a:pPr>
              <a:lnSpc>
                <a:spcPct val="150000"/>
              </a:lnSpc>
            </a:pPr>
            <a:r>
              <a:rPr lang="en-US" dirty="0">
                <a:solidFill>
                  <a:schemeClr val="bg1"/>
                </a:solidFill>
              </a:rPr>
              <a:t>• Conduct structured human review of high-confidence errors</a:t>
            </a:r>
          </a:p>
          <a:p>
            <a:pPr>
              <a:lnSpc>
                <a:spcPct val="150000"/>
              </a:lnSpc>
            </a:pPr>
            <a:r>
              <a:rPr lang="en-US" dirty="0">
                <a:solidFill>
                  <a:schemeClr val="bg1"/>
                </a:solidFill>
              </a:rPr>
              <a:t>• Evaluate deployment-oriented risk and coverage objectives</a:t>
            </a:r>
          </a:p>
          <a:p>
            <a:pPr>
              <a:lnSpc>
                <a:spcPct val="150000"/>
              </a:lnSpc>
            </a:pPr>
            <a:endParaRPr lang="en-US" dirty="0">
              <a:solidFill>
                <a:schemeClr val="bg1"/>
              </a:solidFill>
            </a:endParaRPr>
          </a:p>
          <a:p>
            <a:pPr>
              <a:lnSpc>
                <a:spcPct val="150000"/>
              </a:lnSpc>
            </a:pPr>
            <a:endParaRPr lang="en-US" dirty="0">
              <a:solidFill>
                <a:schemeClr val="bg1"/>
              </a:solidFill>
            </a:endParaRPr>
          </a:p>
          <a:p>
            <a:pPr>
              <a:lnSpc>
                <a:spcPct val="150000"/>
              </a:lnSpc>
            </a:pPr>
            <a:endParaRPr lang="en-US" dirty="0">
              <a:solidFill>
                <a:schemeClr val="bg1"/>
              </a:solidFill>
            </a:endParaRPr>
          </a:p>
          <a:p>
            <a:pPr algn="l">
              <a:lnSpc>
                <a:spcPct val="150000"/>
              </a:lnSpc>
            </a:pPr>
            <a:endParaRPr dirty="0">
              <a:solidFill>
                <a:schemeClr val="bg1"/>
              </a:solidFill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621792" y="6510528"/>
            <a:ext cx="109728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>
                <a:solidFill>
                  <a:srgbClr val="A7B4CD"/>
                </a:solidFill>
                <a:latin typeface="Aptos"/>
              </a:rPr>
              <a:t>RASCA • CDS Dissertation Presentation   |   16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2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84048"/>
            <a:ext cx="10972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8FAFC"/>
                </a:solidFill>
                <a:latin typeface="Aptos"/>
              </a:rPr>
              <a:t>Anticipated Viva Questions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7" y="1490472"/>
            <a:ext cx="4800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F8FAFC"/>
                </a:solidFill>
                <a:latin typeface="Aptos"/>
              </a:rPr>
              <a:t>Why RASCA?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7" y="1892807"/>
            <a:ext cx="4800600" cy="43088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lang="en-US" sz="1100" dirty="0">
                <a:solidFill>
                  <a:srgbClr val="A7B4CD"/>
                </a:solidFill>
                <a:latin typeface="Aptos"/>
              </a:rPr>
              <a:t>The accuracy of classification alone is not an indicator of the reliability of any automated decision.</a:t>
            </a:r>
            <a:endParaRPr sz="1100" b="0" dirty="0">
              <a:solidFill>
                <a:srgbClr val="A7B4CD"/>
              </a:solidFill>
              <a:latin typeface="Aptos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6373368" y="1490472"/>
            <a:ext cx="4800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F8FAFC"/>
                </a:solidFill>
                <a:latin typeface="Aptos"/>
              </a:rPr>
              <a:t>Why TF-IDF and classical ML?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73368" y="1892807"/>
            <a:ext cx="4800600" cy="43088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lang="en-US" sz="1100" dirty="0">
                <a:solidFill>
                  <a:srgbClr val="A7B4CD"/>
                </a:solidFill>
                <a:latin typeface="Aptos"/>
              </a:rPr>
              <a:t>The advantages include a lightweight and reproducible starting point for reliability.</a:t>
            </a:r>
            <a:endParaRPr sz="1100" b="0" dirty="0">
              <a:solidFill>
                <a:srgbClr val="A7B4CD"/>
              </a:solidFill>
              <a:latin typeface="Aptos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841247" y="2999232"/>
            <a:ext cx="4800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F8FAFC"/>
                </a:solidFill>
                <a:latin typeface="Aptos"/>
              </a:rPr>
              <a:t>Why Logistic Regression?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7" y="3401568"/>
            <a:ext cx="4800600" cy="26161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lang="en-US" sz="1100" dirty="0">
                <a:solidFill>
                  <a:srgbClr val="A7B4CD"/>
                </a:solidFill>
                <a:latin typeface="Aptos"/>
              </a:rPr>
              <a:t>It was the best performer on the test among all the tested models.</a:t>
            </a:r>
            <a:endParaRPr sz="1100" b="0" dirty="0">
              <a:solidFill>
                <a:srgbClr val="A7B4CD"/>
              </a:solidFill>
              <a:latin typeface="Aptos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6373368" y="2999232"/>
            <a:ext cx="4800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F8FAFC"/>
                </a:solidFill>
                <a:latin typeface="Aptos"/>
              </a:rPr>
              <a:t>Did calibration solve reliability completely?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73368" y="3401568"/>
            <a:ext cx="4800600" cy="26161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lang="en-US" sz="1100" dirty="0">
                <a:solidFill>
                  <a:srgbClr val="A7B4CD"/>
                </a:solidFill>
                <a:latin typeface="Aptos"/>
              </a:rPr>
              <a:t>While ECE got better, there was no change in the Brier score.</a:t>
            </a:r>
            <a:endParaRPr sz="1100" b="0" dirty="0">
              <a:solidFill>
                <a:srgbClr val="A7B4CD"/>
              </a:solidFill>
              <a:latin typeface="Aptos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841247" y="4507992"/>
            <a:ext cx="4800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F8FAFC"/>
                </a:solidFill>
                <a:latin typeface="Aptos"/>
              </a:rPr>
              <a:t>Why selective prediction?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7" y="4910328"/>
            <a:ext cx="4800600" cy="43088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lang="en-US" sz="1100" dirty="0">
                <a:solidFill>
                  <a:srgbClr val="A7B4CD"/>
                </a:solidFill>
                <a:latin typeface="Aptos"/>
              </a:rPr>
              <a:t>It creates a definite risk versus coverage compromise and sends unclear cases for further evaluation.</a:t>
            </a:r>
            <a:endParaRPr sz="1100" b="0" dirty="0">
              <a:solidFill>
                <a:srgbClr val="A7B4CD"/>
              </a:solidFill>
              <a:latin typeface="Aptos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6373368" y="4507992"/>
            <a:ext cx="4800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F8FAFC"/>
                </a:solidFill>
                <a:latin typeface="Aptos"/>
              </a:rPr>
              <a:t>What is the main contribution?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73368" y="4910328"/>
            <a:ext cx="4800600" cy="43088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lang="en-US" sz="1100" dirty="0">
                <a:solidFill>
                  <a:srgbClr val="A7B4CD"/>
                </a:solidFill>
                <a:latin typeface="Aptos"/>
              </a:rPr>
              <a:t>The integrated framework for reliability-based evaluation and decision should be viewed as such and not as the proposal of a new classifier.</a:t>
            </a:r>
            <a:endParaRPr sz="1100" b="0" dirty="0">
              <a:solidFill>
                <a:srgbClr val="A7B4CD"/>
              </a:solidFill>
              <a:latin typeface="Aptos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621792" y="6510528"/>
            <a:ext cx="109728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>
                <a:solidFill>
                  <a:srgbClr val="A7B4CD"/>
                </a:solidFill>
                <a:latin typeface="Aptos"/>
              </a:rPr>
              <a:t>RASCA • CDS Dissertation Presentation   |   17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2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84048"/>
            <a:ext cx="10972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dirty="0" smtClean="0">
                <a:solidFill>
                  <a:srgbClr val="F8FAFC"/>
                </a:solidFill>
                <a:latin typeface="Aptos"/>
              </a:rPr>
              <a:t>References</a:t>
            </a:r>
            <a:endParaRPr sz="2700" b="1" dirty="0">
              <a:solidFill>
                <a:srgbClr val="F8FAFC"/>
              </a:solidFill>
              <a:latin typeface="Aptos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21792" y="896112"/>
            <a:ext cx="1069848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A7B4CD"/>
                </a:solidFill>
                <a:latin typeface="Aptos"/>
              </a:rPr>
              <a:t>Key references explicitly used in the dissertation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2588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100" b="0">
                <a:solidFill>
                  <a:srgbClr val="A7B4CD"/>
                </a:solidFill>
                <a:latin typeface="Aptos"/>
              </a:defRPr>
            </a:pPr>
            <a:r>
              <a:t>Anggraini, V., Bella, C., Bastian, Muthoharoh, L., Satria, A. and Manullang, M.C.T. (2026) ‘A comparative analysis of machine learning and deep learning models for tweet sentiment classification: a case study on the Sentiment140 dataset’, arXiv. doi:10.48550/arXiv.2605.04888.</a:t>
            </a:r>
          </a:p>
          <a:p>
            <a:pPr>
              <a:spcAft>
                <a:spcPts val="1000"/>
              </a:spcAft>
              <a:defRPr sz="1100" b="0">
                <a:solidFill>
                  <a:srgbClr val="A7B4CD"/>
                </a:solidFill>
                <a:latin typeface="Aptos"/>
              </a:defRPr>
            </a:pPr>
            <a:r>
              <a:t>Dabah, L. and Tirer, T. (2025) ‘On temperature scaling and conformal prediction of deep classifiers’, Proceedings of the 42nd International Conference on Machine Learning, 267, pp.11813–11845.</a:t>
            </a:r>
          </a:p>
          <a:p>
            <a:pPr>
              <a:spcAft>
                <a:spcPts val="1000"/>
              </a:spcAft>
              <a:defRPr sz="1100" b="0">
                <a:solidFill>
                  <a:srgbClr val="A7B4CD"/>
                </a:solidFill>
                <a:latin typeface="Aptos"/>
              </a:defRPr>
            </a:pPr>
            <a:r>
              <a:t>Dong, J., Jiang, Z., Pan, D., Chen, Z., Guan, Q., Zhang, H., Gui, G. and Gui, W. (2025) ‘A survey on confidence calibration of deep learning-based classification models under class imbalance data’, IEEE Transactions on Neural Networks and Learning Systems, 36(9), pp.15664–15684.</a:t>
            </a:r>
          </a:p>
          <a:p>
            <a:pPr>
              <a:spcAft>
                <a:spcPts val="1000"/>
              </a:spcAft>
              <a:defRPr sz="1100" b="0">
                <a:solidFill>
                  <a:srgbClr val="A7B4CD"/>
                </a:solidFill>
                <a:latin typeface="Aptos"/>
              </a:defRPr>
            </a:pPr>
            <a:r>
              <a:t>Flores, J., Ernst, M. and Cheung, J.C.K. (2025) ‘Improving the calibration of confidence scores in text generation using the output distribution’s characteristics’, Proceedings of ACL 2025: Short Papers, pp.172–182.</a:t>
            </a:r>
          </a:p>
          <a:p>
            <a:pPr>
              <a:spcAft>
                <a:spcPts val="1000"/>
              </a:spcAft>
              <a:defRPr sz="1100" b="0">
                <a:solidFill>
                  <a:srgbClr val="A7B4CD"/>
                </a:solidFill>
                <a:latin typeface="Aptos"/>
              </a:defRPr>
            </a:pPr>
            <a:r>
              <a:t>Shin et al. (2025) and Albadarneh et al. (2025) — recent literature discussed in the dissertation on sentiment analysis and the transition from traditional ML to modern deep-learning approaches.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6510528"/>
            <a:ext cx="109728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>
                <a:solidFill>
                  <a:srgbClr val="A7B4CD"/>
                </a:solidFill>
                <a:latin typeface="Aptos"/>
              </a:rPr>
              <a:t>RASCA • CDS Dissertation Presentation   |   18</a:t>
            </a:r>
          </a:p>
        </p:txBody>
      </p:sp>
    </p:spTree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vic">
  <a:themeElements>
    <a:clrScheme name="Civic">
      <a:dk1>
        <a:sysClr val="windowText" lastClr="000000"/>
      </a:dk1>
      <a:lt1>
        <a:sysClr val="window" lastClr="FFFFFF"/>
      </a:lt1>
      <a:dk2>
        <a:srgbClr val="646B86"/>
      </a:dk2>
      <a:lt2>
        <a:srgbClr val="C5D1D7"/>
      </a:lt2>
      <a:accent1>
        <a:srgbClr val="D16349"/>
      </a:accent1>
      <a:accent2>
        <a:srgbClr val="CCB400"/>
      </a:accent2>
      <a:accent3>
        <a:srgbClr val="8CADAE"/>
      </a:accent3>
      <a:accent4>
        <a:srgbClr val="8C7B70"/>
      </a:accent4>
      <a:accent5>
        <a:srgbClr val="8FB08C"/>
      </a:accent5>
      <a:accent6>
        <a:srgbClr val="D19049"/>
      </a:accent6>
      <a:hlink>
        <a:srgbClr val="00A3D6"/>
      </a:hlink>
      <a:folHlink>
        <a:srgbClr val="694F07"/>
      </a:folHlink>
    </a:clrScheme>
    <a:fontScheme name="Civic">
      <a:majorFont>
        <a:latin typeface="Georgia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Georgia"/>
        <a:ea typeface=""/>
        <a:cs typeface=""/>
        <a:font script="Jpan" typeface="ＭＳ Ｐ明朝"/>
        <a:font script="Hang" typeface="바탕"/>
        <a:font script="Hans" typeface="方正舒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Civic">
      <a:fillStyleLst>
        <a:solidFill>
          <a:schemeClr val="phClr"/>
        </a:solidFill>
        <a:solidFill>
          <a:schemeClr val="phClr">
            <a:tint val="45000"/>
          </a:schemeClr>
        </a:solidFill>
        <a:solidFill>
          <a:schemeClr val="phClr">
            <a:tint val="95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1429" cap="flat" cmpd="sng" algn="ctr">
          <a:solidFill>
            <a:schemeClr val="phClr"/>
          </a:solidFill>
          <a:prstDash val="sysDash"/>
        </a:ln>
        <a:ln w="200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508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25400" dir="5400000" rotWithShape="0">
              <a:srgbClr val="000000">
                <a:alpha val="45000"/>
              </a:srgbClr>
            </a:outerShdw>
          </a:effectLst>
          <a:scene3d>
            <a:camera prst="orthographicFront" fov="0">
              <a:rot lat="0" lon="0" rev="0"/>
            </a:camera>
            <a:lightRig rig="threePt" dir="t">
              <a:rot lat="0" lon="0" rev="0"/>
            </a:lightRig>
          </a:scene3d>
          <a:sp3d contourW="9525" prstMaterial="matte">
            <a:bevelT w="0" h="0"/>
            <a:contourClr>
              <a:schemeClr val="phClr">
                <a:shade val="70000"/>
                <a:satMod val="105000"/>
              </a:schemeClr>
            </a:contourClr>
          </a:sp3d>
        </a:effectStyle>
        <a:effectStyle>
          <a:effectLst>
            <a:outerShdw blurRad="50800" dist="25400" dir="5400000" rotWithShape="0">
              <a:srgbClr val="000000">
                <a:alpha val="45000"/>
              </a:srgbClr>
            </a:outerShdw>
          </a:effectLst>
          <a:scene3d>
            <a:camera prst="orthographicFront" fov="0">
              <a:rot lat="0" lon="0" rev="0"/>
            </a:camera>
            <a:lightRig rig="soft" dir="b">
              <a:rot lat="0" lon="0" rev="0"/>
            </a:lightRig>
          </a:scene3d>
          <a:sp3d prstMaterial="dkEdge">
            <a:bevelT w="63500" h="63500" prst="cross"/>
            <a:contourClr>
              <a:schemeClr val="phClr"/>
            </a:contourClr>
          </a:sp3d>
        </a:effectStyle>
      </a:effectStyleLst>
      <a:bgFillStyleLst>
        <a:solidFill>
          <a:schemeClr val="phClr"/>
        </a:solidFill>
        <a:blipFill>
          <a:blip xmlns:r="http://schemas.openxmlformats.org/officeDocument/2006/relationships" r:embed="rId1">
            <a:duotone>
              <a:schemeClr val="phClr">
                <a:shade val="70000"/>
                <a:satMod val="115000"/>
              </a:schemeClr>
              <a:schemeClr val="phClr">
                <a:tint val="85000"/>
              </a:schemeClr>
            </a:duotone>
          </a:blip>
          <a:tile tx="0" ty="0" sx="85000" sy="85000" flip="none" algn="tl"/>
        </a:blipFill>
        <a:blipFill>
          <a:blip xmlns:r="http://schemas.openxmlformats.org/officeDocument/2006/relationships" r:embed="rId2">
            <a:duotone>
              <a:schemeClr val="phClr">
                <a:shade val="65000"/>
                <a:satMod val="115000"/>
              </a:schemeClr>
              <a:schemeClr val="phClr">
                <a:tint val="85000"/>
              </a:schemeClr>
            </a:duotone>
          </a:blip>
          <a:tile tx="0" ty="0" sx="65000" sy="65000" flip="none" algn="tl"/>
        </a:blip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Civic</Template>
  <TotalTime>16</TotalTime>
  <Words>1444</Words>
  <Application>Microsoft Office PowerPoint</Application>
  <PresentationFormat>Custom</PresentationFormat>
  <Paragraphs>255</Paragraphs>
  <Slides>17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18" baseType="lpstr">
      <vt:lpstr>Civic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/>
  <cp:keywords/>
  <dc:description>generated using python-pptx</dc:description>
  <cp:lastModifiedBy>Amit Sharma</cp:lastModifiedBy>
  <cp:revision>5</cp:revision>
  <dcterms:created xsi:type="dcterms:W3CDTF">2013-01-27T09:14:16Z</dcterms:created>
  <dcterms:modified xsi:type="dcterms:W3CDTF">2026-09-24T08:54:36Z</dcterms:modified>
  <cp:category/>
</cp:coreProperties>
</file>